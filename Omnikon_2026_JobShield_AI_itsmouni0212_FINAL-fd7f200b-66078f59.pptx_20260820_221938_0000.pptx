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2"/>
    </p:embeddedFont>
    <p:embeddedFont>
      <p:font typeface="Calibri (MS) Bold" charset="1" panose="020F0702030404030204"/>
      <p:regular r:id="rId13"/>
    </p:embeddedFont>
    <p:embeddedFont>
      <p:font typeface="Aptos Bold" charset="1" panose="020B0004020202020204"/>
      <p:regular r:id="rId14"/>
    </p:embeddedFont>
    <p:embeddedFont>
      <p:font typeface="Rajdhani" charset="1" panose="02000000000000000000"/>
      <p:regular r:id="rId15"/>
    </p:embeddedFont>
    <p:embeddedFont>
      <p:font typeface="Calibri (MS)" charset="1" panose="020F0502020204030204"/>
      <p:regular r:id="rId16"/>
    </p:embeddedFont>
    <p:embeddedFont>
      <p:font typeface="Aptos" charset="1" panose="020B00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www.cybercrime.gov.in/assets/learning-corner/advisory/pdf/Advisory%20on.pdf" TargetMode="External" Type="http://schemas.openxmlformats.org/officeDocument/2006/relationships/hyperlink"/><Relationship Id="rId4" Target="https://www.ey.com/en_in/newsroom/2025/05/employment-fraud-on-the-rise-ey-study-calls-for-tech-enabled-vigilance-in-hiring-amidst-rising-risks-across-sectors" TargetMode="External" Type="http://schemas.openxmlformats.org/officeDocument/2006/relationships/hyperlink"/><Relationship Id="rId5" Target="https://omnikonhackathon.vercel.app/rulebook" TargetMode="External" Type="http://schemas.openxmlformats.org/officeDocument/2006/relationships/hyperlink"/><Relationship Id="rId6" Target="https://api.unstop.com/hackathons/omnikon-national-hackathon-2026-omnikon-1715716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9701" y="28499"/>
            <a:ext cx="3538347" cy="1953101"/>
            <a:chOff x="0" y="0"/>
            <a:chExt cx="4717796" cy="260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796" cy="2604135"/>
            </a:xfrm>
            <a:custGeom>
              <a:avLst/>
              <a:gdLst/>
              <a:ahLst/>
              <a:cxnLst/>
              <a:rect r="r" b="b" t="t" l="l"/>
              <a:pathLst>
                <a:path h="2604135" w="4717796">
                  <a:moveTo>
                    <a:pt x="0" y="0"/>
                  </a:moveTo>
                  <a:lnTo>
                    <a:pt x="4717796" y="0"/>
                  </a:lnTo>
                  <a:lnTo>
                    <a:pt x="4717796" y="2604135"/>
                  </a:lnTo>
                  <a:lnTo>
                    <a:pt x="0" y="2604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3347880">
            <a:off x="11543767" y="-1133456"/>
            <a:ext cx="9227963" cy="6597996"/>
            <a:chOff x="0" y="0"/>
            <a:chExt cx="12303950" cy="87973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03887" cy="8797290"/>
            </a:xfrm>
            <a:custGeom>
              <a:avLst/>
              <a:gdLst/>
              <a:ahLst/>
              <a:cxnLst/>
              <a:rect r="r" b="b" t="t" l="l"/>
              <a:pathLst>
                <a:path h="8797290" w="12303887">
                  <a:moveTo>
                    <a:pt x="0" y="0"/>
                  </a:moveTo>
                  <a:lnTo>
                    <a:pt x="12303887" y="0"/>
                  </a:lnTo>
                  <a:lnTo>
                    <a:pt x="12303887" y="8797290"/>
                  </a:lnTo>
                  <a:lnTo>
                    <a:pt x="0" y="8797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2000"/>
              </a:blip>
              <a:stretch>
                <a:fillRect l="0" t="-116" r="0" b="-11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350300">
            <a:off x="11543767" y="5717162"/>
            <a:ext cx="9227963" cy="6597996"/>
            <a:chOff x="0" y="0"/>
            <a:chExt cx="12303950" cy="87973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03887" cy="8797290"/>
            </a:xfrm>
            <a:custGeom>
              <a:avLst/>
              <a:gdLst/>
              <a:ahLst/>
              <a:cxnLst/>
              <a:rect r="r" b="b" t="t" l="l"/>
              <a:pathLst>
                <a:path h="8797290" w="12303887">
                  <a:moveTo>
                    <a:pt x="0" y="0"/>
                  </a:moveTo>
                  <a:lnTo>
                    <a:pt x="12303887" y="0"/>
                  </a:lnTo>
                  <a:lnTo>
                    <a:pt x="12303887" y="8797290"/>
                  </a:lnTo>
                  <a:lnTo>
                    <a:pt x="0" y="8797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6" r="0" b="-11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8807" y="804043"/>
            <a:ext cx="8109261" cy="8678913"/>
            <a:chOff x="0" y="0"/>
            <a:chExt cx="10812348" cy="1157188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812399" cy="11571859"/>
            </a:xfrm>
            <a:custGeom>
              <a:avLst/>
              <a:gdLst/>
              <a:ahLst/>
              <a:cxnLst/>
              <a:rect r="r" b="b" t="t" l="l"/>
              <a:pathLst>
                <a:path h="11571859" w="10812399">
                  <a:moveTo>
                    <a:pt x="0" y="0"/>
                  </a:moveTo>
                  <a:lnTo>
                    <a:pt x="10812399" y="0"/>
                  </a:lnTo>
                  <a:lnTo>
                    <a:pt x="10812399" y="11571859"/>
                  </a:lnTo>
                  <a:lnTo>
                    <a:pt x="0" y="11571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" r="0" b="-1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66404" y="2464813"/>
            <a:ext cx="6794087" cy="25622"/>
            <a:chOff x="0" y="0"/>
            <a:chExt cx="9058783" cy="34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8783" cy="34163"/>
            </a:xfrm>
            <a:custGeom>
              <a:avLst/>
              <a:gdLst/>
              <a:ahLst/>
              <a:cxnLst/>
              <a:rect r="r" b="b" t="t" l="l"/>
              <a:pathLst>
                <a:path h="34163" w="9058783">
                  <a:moveTo>
                    <a:pt x="0" y="0"/>
                  </a:moveTo>
                  <a:lnTo>
                    <a:pt x="9058783" y="0"/>
                  </a:lnTo>
                  <a:lnTo>
                    <a:pt x="9058783" y="34163"/>
                  </a:lnTo>
                  <a:lnTo>
                    <a:pt x="0" y="34163"/>
                  </a:lnTo>
                  <a:close/>
                </a:path>
              </a:pathLst>
            </a:custGeom>
            <a:solidFill>
              <a:srgbClr val="D0D0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33800" y="3810610"/>
            <a:ext cx="6794087" cy="25622"/>
            <a:chOff x="0" y="0"/>
            <a:chExt cx="9058783" cy="341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58783" cy="34163"/>
            </a:xfrm>
            <a:custGeom>
              <a:avLst/>
              <a:gdLst/>
              <a:ahLst/>
              <a:cxnLst/>
              <a:rect r="r" b="b" t="t" l="l"/>
              <a:pathLst>
                <a:path h="34163" w="9058783">
                  <a:moveTo>
                    <a:pt x="0" y="0"/>
                  </a:moveTo>
                  <a:lnTo>
                    <a:pt x="9058783" y="0"/>
                  </a:lnTo>
                  <a:lnTo>
                    <a:pt x="9058783" y="34163"/>
                  </a:lnTo>
                  <a:lnTo>
                    <a:pt x="0" y="34163"/>
                  </a:lnTo>
                  <a:close/>
                </a:path>
              </a:pathLst>
            </a:custGeom>
            <a:solidFill>
              <a:srgbClr val="D0D0D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33800" y="5159778"/>
            <a:ext cx="6794087" cy="25622"/>
            <a:chOff x="0" y="0"/>
            <a:chExt cx="9058783" cy="34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58783" cy="34163"/>
            </a:xfrm>
            <a:custGeom>
              <a:avLst/>
              <a:gdLst/>
              <a:ahLst/>
              <a:cxnLst/>
              <a:rect r="r" b="b" t="t" l="l"/>
              <a:pathLst>
                <a:path h="34163" w="9058783">
                  <a:moveTo>
                    <a:pt x="0" y="0"/>
                  </a:moveTo>
                  <a:lnTo>
                    <a:pt x="9058783" y="0"/>
                  </a:lnTo>
                  <a:lnTo>
                    <a:pt x="9058783" y="34163"/>
                  </a:lnTo>
                  <a:lnTo>
                    <a:pt x="0" y="34163"/>
                  </a:lnTo>
                  <a:close/>
                </a:path>
              </a:pathLst>
            </a:custGeom>
            <a:solidFill>
              <a:srgbClr val="D0D0D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08159" y="2702052"/>
            <a:ext cx="8162639" cy="2696528"/>
            <a:chOff x="0" y="0"/>
            <a:chExt cx="10883519" cy="35953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3519" cy="3595370"/>
            </a:xfrm>
            <a:custGeom>
              <a:avLst/>
              <a:gdLst/>
              <a:ahLst/>
              <a:cxnLst/>
              <a:rect r="r" b="b" t="t" l="l"/>
              <a:pathLst>
                <a:path h="3595370" w="10883519">
                  <a:moveTo>
                    <a:pt x="0" y="0"/>
                  </a:moveTo>
                  <a:lnTo>
                    <a:pt x="10883519" y="0"/>
                  </a:lnTo>
                  <a:lnTo>
                    <a:pt x="10883519" y="3595370"/>
                  </a:lnTo>
                  <a:lnTo>
                    <a:pt x="0" y="359537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18" r="0" b="-891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8159" y="2644588"/>
            <a:ext cx="8162687" cy="2753992"/>
            <a:chOff x="0" y="0"/>
            <a:chExt cx="10883582" cy="36719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83519" cy="3671951"/>
            </a:xfrm>
            <a:custGeom>
              <a:avLst/>
              <a:gdLst/>
              <a:ahLst/>
              <a:cxnLst/>
              <a:rect r="r" b="b" t="t" l="l"/>
              <a:pathLst>
                <a:path h="3671951" w="10883519">
                  <a:moveTo>
                    <a:pt x="0" y="0"/>
                  </a:moveTo>
                  <a:lnTo>
                    <a:pt x="10883519" y="0"/>
                  </a:lnTo>
                  <a:lnTo>
                    <a:pt x="10883519" y="3671951"/>
                  </a:lnTo>
                  <a:lnTo>
                    <a:pt x="0" y="367195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712" r="0" b="-771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08159" y="2601725"/>
            <a:ext cx="8162687" cy="2796854"/>
            <a:chOff x="0" y="0"/>
            <a:chExt cx="10883582" cy="37291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83583" cy="3729139"/>
            </a:xfrm>
            <a:custGeom>
              <a:avLst/>
              <a:gdLst/>
              <a:ahLst/>
              <a:cxnLst/>
              <a:rect r="r" b="b" t="t" l="l"/>
              <a:pathLst>
                <a:path h="3729139" w="10883583">
                  <a:moveTo>
                    <a:pt x="0" y="0"/>
                  </a:moveTo>
                  <a:lnTo>
                    <a:pt x="10883583" y="0"/>
                  </a:lnTo>
                  <a:lnTo>
                    <a:pt x="10883583" y="3729139"/>
                  </a:lnTo>
                  <a:lnTo>
                    <a:pt x="0" y="372913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67" r="0" b="-686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883582" cy="3786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38"/>
                </a:lnSpc>
              </a:pPr>
              <a:r>
                <a:rPr lang="en-US" sz="13199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OMNI</a:t>
              </a:r>
              <a:r>
                <a:rPr lang="en-US" sz="13199" b="true">
                  <a:solidFill>
                    <a:srgbClr val="FF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71852" y="4798504"/>
            <a:ext cx="743530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2400" b="true">
                <a:solidFill>
                  <a:srgbClr val="141E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NATIONAL HACKATHON 2026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7112498"/>
            <a:ext cx="9071420" cy="3174492"/>
            <a:chOff x="0" y="0"/>
            <a:chExt cx="12095226" cy="42326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95226" cy="4232656"/>
            </a:xfrm>
            <a:custGeom>
              <a:avLst/>
              <a:gdLst/>
              <a:ahLst/>
              <a:cxnLst/>
              <a:rect r="r" b="b" t="t" l="l"/>
              <a:pathLst>
                <a:path h="4232656" w="12095226">
                  <a:moveTo>
                    <a:pt x="0" y="0"/>
                  </a:moveTo>
                  <a:lnTo>
                    <a:pt x="12095226" y="0"/>
                  </a:lnTo>
                  <a:lnTo>
                    <a:pt x="12095226" y="4232656"/>
                  </a:lnTo>
                  <a:lnTo>
                    <a:pt x="0" y="4232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8159" y="557527"/>
            <a:ext cx="1780603" cy="1723358"/>
            <a:chOff x="0" y="0"/>
            <a:chExt cx="2374138" cy="22978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4138" cy="2297811"/>
            </a:xfrm>
            <a:custGeom>
              <a:avLst/>
              <a:gdLst/>
              <a:ahLst/>
              <a:cxnLst/>
              <a:rect r="r" b="b" t="t" l="l"/>
              <a:pathLst>
                <a:path h="2297811" w="2374138">
                  <a:moveTo>
                    <a:pt x="0" y="0"/>
                  </a:moveTo>
                  <a:lnTo>
                    <a:pt x="2374138" y="0"/>
                  </a:lnTo>
                  <a:lnTo>
                    <a:pt x="2374138" y="2297811"/>
                  </a:lnTo>
                  <a:lnTo>
                    <a:pt x="0" y="2297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660" r="0" b="-16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148316" y="5847512"/>
            <a:ext cx="6824615" cy="3365583"/>
            <a:chOff x="0" y="0"/>
            <a:chExt cx="9099486" cy="44874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99550" cy="4487418"/>
            </a:xfrm>
            <a:custGeom>
              <a:avLst/>
              <a:gdLst/>
              <a:ahLst/>
              <a:cxnLst/>
              <a:rect r="r" b="b" t="t" l="l"/>
              <a:pathLst>
                <a:path h="4487418" w="9099550">
                  <a:moveTo>
                    <a:pt x="0" y="0"/>
                  </a:moveTo>
                  <a:lnTo>
                    <a:pt x="9099550" y="0"/>
                  </a:lnTo>
                  <a:lnTo>
                    <a:pt x="9099550" y="4487418"/>
                  </a:lnTo>
                  <a:lnTo>
                    <a:pt x="0" y="448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83" t="0" r="-83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49354" y="1086202"/>
            <a:ext cx="2085032" cy="68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000" b="true">
                <a:solidFill>
                  <a:srgbClr val="141E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Itsmouni0212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6404" y="2363219"/>
            <a:ext cx="2575248" cy="64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0"/>
              </a:lnSpc>
            </a:pPr>
            <a:r>
              <a:rPr lang="en-US" sz="2600" b="true">
                <a:solidFill>
                  <a:srgbClr val="141E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Mounika Avuluri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49354" y="5290147"/>
            <a:ext cx="384829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141E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Omni_CyberTech_10 • Identifying Fake Job Postings and Recruitment Scams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33800" y="3902878"/>
            <a:ext cx="323502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E5D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Cybersecurity, Blockchain &amp; Digital Trust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230905" y="968502"/>
            <a:ext cx="955243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18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01 // 06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573560" y="6846961"/>
            <a:ext cx="5590537" cy="671065"/>
            <a:chOff x="0" y="0"/>
            <a:chExt cx="7454049" cy="89475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54011" cy="894715"/>
            </a:xfrm>
            <a:custGeom>
              <a:avLst/>
              <a:gdLst/>
              <a:ahLst/>
              <a:cxnLst/>
              <a:rect r="r" b="b" t="t" l="l"/>
              <a:pathLst>
                <a:path h="894715" w="7454011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7304913" y="0"/>
                  </a:lnTo>
                  <a:cubicBezTo>
                    <a:pt x="7387336" y="0"/>
                    <a:pt x="7454011" y="66802"/>
                    <a:pt x="7454011" y="149098"/>
                  </a:cubicBezTo>
                  <a:lnTo>
                    <a:pt x="7454011" y="745617"/>
                  </a:lnTo>
                  <a:cubicBezTo>
                    <a:pt x="7454011" y="828040"/>
                    <a:pt x="7387209" y="894715"/>
                    <a:pt x="7304913" y="894715"/>
                  </a:cubicBezTo>
                  <a:lnTo>
                    <a:pt x="149098" y="894715"/>
                  </a:lnTo>
                  <a:cubicBezTo>
                    <a:pt x="66802" y="894715"/>
                    <a:pt x="0" y="828040"/>
                    <a:pt x="0" y="745617"/>
                  </a:cubicBezTo>
                  <a:close/>
                </a:path>
              </a:pathLst>
            </a:custGeom>
            <a:solidFill>
              <a:srgbClr val="EBF5FA"/>
            </a:solidFill>
            <a:ln w="12700" cap="sq">
              <a:solidFill>
                <a:srgbClr val="78AABE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7454049" cy="894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JOBSHIELD AI  •  Explainable Trust Layer for Job Seekers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9584198"/>
            <a:ext cx="4281459" cy="6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950" y="1478756"/>
            <a:ext cx="16802100" cy="7981664"/>
            <a:chOff x="0" y="0"/>
            <a:chExt cx="22402800" cy="10642219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2402800" cy="10642219"/>
            </a:xfrm>
            <a:custGeom>
              <a:avLst/>
              <a:gdLst/>
              <a:ahLst/>
              <a:cxnLst/>
              <a:rect r="r" b="b" t="t" l="l"/>
              <a:pathLst>
                <a:path h="10642219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10642219"/>
                  </a:lnTo>
                  <a:lnTo>
                    <a:pt x="0" y="10642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369" r="0" b="-4536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495519" y="689896"/>
            <a:ext cx="976379" cy="49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8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02 //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35019"/>
            <a:ext cx="2749963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499" b="true">
                <a:solidFill>
                  <a:srgbClr val="141414"/>
                </a:solidFill>
                <a:latin typeface="Aptos Bold"/>
                <a:ea typeface="Aptos Bold"/>
                <a:cs typeface="Aptos Bold"/>
                <a:sym typeface="Aptos Bold"/>
              </a:rPr>
              <a:t>IDEA TITLE  •  JOBSHIELD 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2950" y="1271588"/>
            <a:ext cx="16802100" cy="28575"/>
            <a:chOff x="0" y="0"/>
            <a:chExt cx="224028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02800" cy="38100"/>
            </a:xfrm>
            <a:custGeom>
              <a:avLst/>
              <a:gdLst/>
              <a:ahLst/>
              <a:cxnLst/>
              <a:rect r="r" b="b" t="t" l="l"/>
              <a:pathLst>
                <a:path h="38100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2203447"/>
            <a:ext cx="8725214" cy="705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C339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OFFICIAL PROBLEM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41E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Omni_CyberTech_10 — Identifying Fake Job Postings and Recruitment Scams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D3542"/>
                </a:solidFill>
                <a:latin typeface="Calibri (MS)"/>
                <a:ea typeface="Calibri (MS)"/>
                <a:cs typeface="Calibri (MS)"/>
                <a:sym typeface="Calibri (MS)"/>
              </a:rPr>
              <a:t>“Job seekers are frequently targeted by fake job postings and recruitment scams. Create a solution that helps identify and flag such scams.”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E5D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D3542"/>
                </a:solidFill>
                <a:latin typeface="Calibri (MS)"/>
                <a:ea typeface="Calibri (MS)"/>
                <a:cs typeface="Calibri (MS)"/>
                <a:sym typeface="Calibri (MS)"/>
              </a:rPr>
              <a:t>JobShield AI is an explainable trust layer that analyzes a job post, recruiter message, email or link and combines independent signals into a transparent risk assessment.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387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 &amp; UNIQUENESS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D3542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Multi-signal fusion — content, identity, domain and contact signals instead of keywords alone.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D3542"/>
                </a:solidFill>
                <a:latin typeface="Calibri (MS)"/>
                <a:ea typeface="Calibri (MS)"/>
                <a:cs typeface="Calibri (MS)"/>
                <a:sym typeface="Calibri (MS)"/>
              </a:rPr>
              <a:t>• Evidence-first verdict — every warning is tied to an observable signal.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D3542"/>
                </a:solidFill>
                <a:latin typeface="Calibri (MS)"/>
                <a:ea typeface="Calibri (MS)"/>
                <a:cs typeface="Calibri (MS)"/>
                <a:sym typeface="Calibri (MS)"/>
              </a:rPr>
              <a:t>• Three-way decision — SAFE / CAUTION / HIGH RISK, with a recommended next action.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D3542"/>
                </a:solidFill>
                <a:latin typeface="Calibri (MS)"/>
                <a:ea typeface="Calibri (MS)"/>
                <a:cs typeface="Calibri (MS)"/>
                <a:sym typeface="Calibri (MS)"/>
              </a:rPr>
              <a:t>• Human-in-the-loop — uncertain cases are routed to “Verify” instead of forced into a binary label.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92127" y="1410967"/>
            <a:ext cx="4356097" cy="927097"/>
            <a:chOff x="0" y="0"/>
            <a:chExt cx="5808129" cy="12361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08091" cy="1236091"/>
            </a:xfrm>
            <a:custGeom>
              <a:avLst/>
              <a:gdLst/>
              <a:ahLst/>
              <a:cxnLst/>
              <a:rect r="r" b="b" t="t" l="l"/>
              <a:pathLst>
                <a:path h="1236091" w="5808091">
                  <a:moveTo>
                    <a:pt x="0" y="205994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5602097" y="0"/>
                  </a:lnTo>
                  <a:cubicBezTo>
                    <a:pt x="5715889" y="0"/>
                    <a:pt x="5808091" y="92202"/>
                    <a:pt x="5808091" y="205994"/>
                  </a:cubicBezTo>
                  <a:lnTo>
                    <a:pt x="5808091" y="1030097"/>
                  </a:lnTo>
                  <a:cubicBezTo>
                    <a:pt x="5808091" y="1143889"/>
                    <a:pt x="5715889" y="1236091"/>
                    <a:pt x="5602097" y="1236091"/>
                  </a:cubicBezTo>
                  <a:lnTo>
                    <a:pt x="205994" y="1236091"/>
                  </a:lnTo>
                  <a:cubicBezTo>
                    <a:pt x="92202" y="1236091"/>
                    <a:pt x="0" y="1143889"/>
                    <a:pt x="0" y="1030097"/>
                  </a:cubicBezTo>
                  <a:close/>
                </a:path>
              </a:pathLst>
            </a:custGeom>
            <a:solidFill>
              <a:srgbClr val="EEF4FB"/>
            </a:solidFill>
            <a:ln w="12700" cap="sq">
              <a:solidFill>
                <a:srgbClr val="96AAC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808129" cy="1236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INPUT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92127" y="2508247"/>
            <a:ext cx="4356097" cy="927097"/>
            <a:chOff x="0" y="0"/>
            <a:chExt cx="5808129" cy="12361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08091" cy="1236091"/>
            </a:xfrm>
            <a:custGeom>
              <a:avLst/>
              <a:gdLst/>
              <a:ahLst/>
              <a:cxnLst/>
              <a:rect r="r" b="b" t="t" l="l"/>
              <a:pathLst>
                <a:path h="1236091" w="5808091">
                  <a:moveTo>
                    <a:pt x="0" y="205994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5602097" y="0"/>
                  </a:lnTo>
                  <a:cubicBezTo>
                    <a:pt x="5715889" y="0"/>
                    <a:pt x="5808091" y="92202"/>
                    <a:pt x="5808091" y="205994"/>
                  </a:cubicBezTo>
                  <a:lnTo>
                    <a:pt x="5808091" y="1030097"/>
                  </a:lnTo>
                  <a:cubicBezTo>
                    <a:pt x="5808091" y="1143889"/>
                    <a:pt x="5715889" y="1236091"/>
                    <a:pt x="5602097" y="1236091"/>
                  </a:cubicBezTo>
                  <a:lnTo>
                    <a:pt x="205994" y="1236091"/>
                  </a:lnTo>
                  <a:cubicBezTo>
                    <a:pt x="92202" y="1236091"/>
                    <a:pt x="0" y="1143889"/>
                    <a:pt x="0" y="10300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808129" cy="1236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JOB POST  •  EMAIL  •  LINK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92127" y="3696967"/>
            <a:ext cx="4356097" cy="927097"/>
            <a:chOff x="0" y="0"/>
            <a:chExt cx="5808129" cy="12361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08091" cy="1236091"/>
            </a:xfrm>
            <a:custGeom>
              <a:avLst/>
              <a:gdLst/>
              <a:ahLst/>
              <a:cxnLst/>
              <a:rect r="r" b="b" t="t" l="l"/>
              <a:pathLst>
                <a:path h="1236091" w="5808091">
                  <a:moveTo>
                    <a:pt x="0" y="205994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5602097" y="0"/>
                  </a:lnTo>
                  <a:cubicBezTo>
                    <a:pt x="5715889" y="0"/>
                    <a:pt x="5808091" y="92202"/>
                    <a:pt x="5808091" y="205994"/>
                  </a:cubicBezTo>
                  <a:lnTo>
                    <a:pt x="5808091" y="1030097"/>
                  </a:lnTo>
                  <a:cubicBezTo>
                    <a:pt x="5808091" y="1143889"/>
                    <a:pt x="5715889" y="1236091"/>
                    <a:pt x="5602097" y="1236091"/>
                  </a:cubicBezTo>
                  <a:lnTo>
                    <a:pt x="205994" y="1236091"/>
                  </a:lnTo>
                  <a:cubicBezTo>
                    <a:pt x="92202" y="1236091"/>
                    <a:pt x="0" y="1143889"/>
                    <a:pt x="0" y="1030097"/>
                  </a:cubicBezTo>
                  <a:close/>
                </a:path>
              </a:pathLst>
            </a:custGeom>
            <a:solidFill>
              <a:srgbClr val="EFF9F6"/>
            </a:solidFill>
            <a:ln w="12700" cap="sq">
              <a:solidFill>
                <a:srgbClr val="78B4A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808129" cy="1236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2387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SIGNAL FUSION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92127" y="4885687"/>
            <a:ext cx="4356097" cy="927097"/>
            <a:chOff x="0" y="0"/>
            <a:chExt cx="5808129" cy="12361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08091" cy="1236091"/>
            </a:xfrm>
            <a:custGeom>
              <a:avLst/>
              <a:gdLst/>
              <a:ahLst/>
              <a:cxnLst/>
              <a:rect r="r" b="b" t="t" l="l"/>
              <a:pathLst>
                <a:path h="1236091" w="5808091">
                  <a:moveTo>
                    <a:pt x="0" y="205994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5602097" y="0"/>
                  </a:lnTo>
                  <a:cubicBezTo>
                    <a:pt x="5715889" y="0"/>
                    <a:pt x="5808091" y="92202"/>
                    <a:pt x="5808091" y="205994"/>
                  </a:cubicBezTo>
                  <a:lnTo>
                    <a:pt x="5808091" y="1030097"/>
                  </a:lnTo>
                  <a:cubicBezTo>
                    <a:pt x="5808091" y="1143889"/>
                    <a:pt x="5715889" y="1236091"/>
                    <a:pt x="5602097" y="1236091"/>
                  </a:cubicBezTo>
                  <a:lnTo>
                    <a:pt x="205994" y="1236091"/>
                  </a:lnTo>
                  <a:cubicBezTo>
                    <a:pt x="92202" y="1236091"/>
                    <a:pt x="0" y="1143889"/>
                    <a:pt x="0" y="1030097"/>
                  </a:cubicBezTo>
                  <a:close/>
                </a:path>
              </a:pathLst>
            </a:custGeom>
            <a:solidFill>
              <a:srgbClr val="FDF4EB"/>
            </a:solidFill>
            <a:ln w="12700" cap="sq">
              <a:solidFill>
                <a:srgbClr val="CDAA7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808129" cy="1236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E09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 SCORE + EVIDENCE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92127" y="6074407"/>
            <a:ext cx="4356097" cy="927097"/>
            <a:chOff x="0" y="0"/>
            <a:chExt cx="5808129" cy="12361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08091" cy="1236091"/>
            </a:xfrm>
            <a:custGeom>
              <a:avLst/>
              <a:gdLst/>
              <a:ahLst/>
              <a:cxnLst/>
              <a:rect r="r" b="b" t="t" l="l"/>
              <a:pathLst>
                <a:path h="1236091" w="5808091">
                  <a:moveTo>
                    <a:pt x="0" y="205994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5602097" y="0"/>
                  </a:lnTo>
                  <a:cubicBezTo>
                    <a:pt x="5715889" y="0"/>
                    <a:pt x="5808091" y="92202"/>
                    <a:pt x="5808091" y="205994"/>
                  </a:cubicBezTo>
                  <a:lnTo>
                    <a:pt x="5808091" y="1030097"/>
                  </a:lnTo>
                  <a:cubicBezTo>
                    <a:pt x="5808091" y="1143889"/>
                    <a:pt x="5715889" y="1236091"/>
                    <a:pt x="5602097" y="1236091"/>
                  </a:cubicBezTo>
                  <a:lnTo>
                    <a:pt x="205994" y="1236091"/>
                  </a:lnTo>
                  <a:cubicBezTo>
                    <a:pt x="92202" y="1236091"/>
                    <a:pt x="0" y="1143889"/>
                    <a:pt x="0" y="1030097"/>
                  </a:cubicBezTo>
                  <a:close/>
                </a:path>
              </a:pathLst>
            </a:custGeom>
            <a:solidFill>
              <a:srgbClr val="FAEFF0"/>
            </a:solidFill>
            <a:ln w="12700" cap="sq">
              <a:solidFill>
                <a:srgbClr val="CD879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808129" cy="1236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C3394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ACTION: VERIFY / AVOID / REPORT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5044680">
            <a:off x="12782436" y="2404491"/>
            <a:ext cx="184623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5044680">
            <a:off x="12782436" y="3593211"/>
            <a:ext cx="184623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5044680">
            <a:off x="12782436" y="4781931"/>
            <a:ext cx="184623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5044680">
            <a:off x="12782436" y="5970651"/>
            <a:ext cx="184623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9584198"/>
            <a:ext cx="4281459" cy="6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950" y="1478756"/>
            <a:ext cx="16802100" cy="7981664"/>
            <a:chOff x="0" y="0"/>
            <a:chExt cx="22402800" cy="10642219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2402800" cy="10642219"/>
            </a:xfrm>
            <a:custGeom>
              <a:avLst/>
              <a:gdLst/>
              <a:ahLst/>
              <a:cxnLst/>
              <a:rect r="r" b="b" t="t" l="l"/>
              <a:pathLst>
                <a:path h="10642219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10642219"/>
                  </a:lnTo>
                  <a:lnTo>
                    <a:pt x="0" y="10642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369" r="0" b="-4536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495519" y="689896"/>
            <a:ext cx="976379" cy="49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8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03 //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102" y="337471"/>
            <a:ext cx="6490021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499" b="true">
                <a:solidFill>
                  <a:srgbClr val="141414"/>
                </a:solidFill>
                <a:latin typeface="Aptos Bold"/>
                <a:ea typeface="Aptos Bold"/>
                <a:cs typeface="Aptos Bold"/>
                <a:sym typeface="Aptos Bold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2950" y="1271588"/>
            <a:ext cx="16802100" cy="28575"/>
            <a:chOff x="0" y="0"/>
            <a:chExt cx="224028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02800" cy="38100"/>
            </a:xfrm>
            <a:custGeom>
              <a:avLst/>
              <a:gdLst/>
              <a:ahLst/>
              <a:cxnLst/>
              <a:rect r="r" b="b" t="t" l="l"/>
              <a:pathLst>
                <a:path h="38100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2327" y="1502407"/>
            <a:ext cx="2252977" cy="725929"/>
            <a:chOff x="0" y="0"/>
            <a:chExt cx="3003969" cy="9679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03931" cy="967867"/>
            </a:xfrm>
            <a:custGeom>
              <a:avLst/>
              <a:gdLst/>
              <a:ahLst/>
              <a:cxnLst/>
              <a:rect r="r" b="b" t="t" l="l"/>
              <a:pathLst>
                <a:path h="967867" w="3003931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2842641" y="0"/>
                  </a:lnTo>
                  <a:cubicBezTo>
                    <a:pt x="2931795" y="0"/>
                    <a:pt x="3003931" y="72263"/>
                    <a:pt x="3003931" y="161290"/>
                  </a:cubicBezTo>
                  <a:lnTo>
                    <a:pt x="3003931" y="806577"/>
                  </a:lnTo>
                  <a:cubicBezTo>
                    <a:pt x="3003931" y="895731"/>
                    <a:pt x="2931668" y="967867"/>
                    <a:pt x="2842641" y="967867"/>
                  </a:cubicBezTo>
                  <a:lnTo>
                    <a:pt x="161290" y="967867"/>
                  </a:lnTo>
                  <a:cubicBezTo>
                    <a:pt x="72263" y="967867"/>
                    <a:pt x="0" y="895731"/>
                    <a:pt x="0" y="806577"/>
                  </a:cubicBezTo>
                  <a:close/>
                </a:path>
              </a:pathLst>
            </a:custGeom>
            <a:solidFill>
              <a:srgbClr val="EBF2FA"/>
            </a:solidFill>
            <a:ln w="12700" cap="sq">
              <a:solidFill>
                <a:srgbClr val="96AFC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003969" cy="967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INPUT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2327" y="2325367"/>
            <a:ext cx="2252977" cy="515620"/>
            <a:chOff x="0" y="0"/>
            <a:chExt cx="3003969" cy="6874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03931" cy="687455"/>
            </a:xfrm>
            <a:custGeom>
              <a:avLst/>
              <a:gdLst/>
              <a:ahLst/>
              <a:cxnLst/>
              <a:rect r="r" b="b" t="t" l="l"/>
              <a:pathLst>
                <a:path h="687455" w="3003931">
                  <a:moveTo>
                    <a:pt x="0" y="114555"/>
                  </a:moveTo>
                  <a:cubicBezTo>
                    <a:pt x="0" y="51308"/>
                    <a:pt x="51308" y="0"/>
                    <a:pt x="114554" y="0"/>
                  </a:cubicBezTo>
                  <a:lnTo>
                    <a:pt x="2889377" y="0"/>
                  </a:lnTo>
                  <a:cubicBezTo>
                    <a:pt x="2952623" y="0"/>
                    <a:pt x="3003931" y="51308"/>
                    <a:pt x="3003931" y="114555"/>
                  </a:cubicBezTo>
                  <a:lnTo>
                    <a:pt x="3003931" y="572901"/>
                  </a:lnTo>
                  <a:cubicBezTo>
                    <a:pt x="3003931" y="636147"/>
                    <a:pt x="2952623" y="687455"/>
                    <a:pt x="2889377" y="687455"/>
                  </a:cubicBezTo>
                  <a:lnTo>
                    <a:pt x="114554" y="687455"/>
                  </a:lnTo>
                  <a:cubicBezTo>
                    <a:pt x="51308" y="687455"/>
                    <a:pt x="0" y="636147"/>
                    <a:pt x="0" y="57290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003969" cy="687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Job description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2327" y="2983735"/>
            <a:ext cx="2252977" cy="515620"/>
            <a:chOff x="0" y="0"/>
            <a:chExt cx="3003969" cy="6874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03931" cy="687455"/>
            </a:xfrm>
            <a:custGeom>
              <a:avLst/>
              <a:gdLst/>
              <a:ahLst/>
              <a:cxnLst/>
              <a:rect r="r" b="b" t="t" l="l"/>
              <a:pathLst>
                <a:path h="687455" w="3003931">
                  <a:moveTo>
                    <a:pt x="0" y="114555"/>
                  </a:moveTo>
                  <a:cubicBezTo>
                    <a:pt x="0" y="51308"/>
                    <a:pt x="51308" y="0"/>
                    <a:pt x="114554" y="0"/>
                  </a:cubicBezTo>
                  <a:lnTo>
                    <a:pt x="2889377" y="0"/>
                  </a:lnTo>
                  <a:cubicBezTo>
                    <a:pt x="2952623" y="0"/>
                    <a:pt x="3003931" y="51308"/>
                    <a:pt x="3003931" y="114555"/>
                  </a:cubicBezTo>
                  <a:lnTo>
                    <a:pt x="3003931" y="572901"/>
                  </a:lnTo>
                  <a:cubicBezTo>
                    <a:pt x="3003931" y="636147"/>
                    <a:pt x="2952623" y="687455"/>
                    <a:pt x="2889377" y="687455"/>
                  </a:cubicBezTo>
                  <a:lnTo>
                    <a:pt x="114554" y="687455"/>
                  </a:lnTo>
                  <a:cubicBezTo>
                    <a:pt x="51308" y="687455"/>
                    <a:pt x="0" y="636147"/>
                    <a:pt x="0" y="57290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003969" cy="687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Recruiter email / phone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2327" y="3642103"/>
            <a:ext cx="2252977" cy="515620"/>
            <a:chOff x="0" y="0"/>
            <a:chExt cx="3003969" cy="6874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03931" cy="687455"/>
            </a:xfrm>
            <a:custGeom>
              <a:avLst/>
              <a:gdLst/>
              <a:ahLst/>
              <a:cxnLst/>
              <a:rect r="r" b="b" t="t" l="l"/>
              <a:pathLst>
                <a:path h="687455" w="3003931">
                  <a:moveTo>
                    <a:pt x="0" y="114555"/>
                  </a:moveTo>
                  <a:cubicBezTo>
                    <a:pt x="0" y="51308"/>
                    <a:pt x="51308" y="0"/>
                    <a:pt x="114554" y="0"/>
                  </a:cubicBezTo>
                  <a:lnTo>
                    <a:pt x="2889377" y="0"/>
                  </a:lnTo>
                  <a:cubicBezTo>
                    <a:pt x="2952623" y="0"/>
                    <a:pt x="3003931" y="51308"/>
                    <a:pt x="3003931" y="114555"/>
                  </a:cubicBezTo>
                  <a:lnTo>
                    <a:pt x="3003931" y="572901"/>
                  </a:lnTo>
                  <a:cubicBezTo>
                    <a:pt x="3003931" y="636147"/>
                    <a:pt x="2952623" y="687455"/>
                    <a:pt x="2889377" y="687455"/>
                  </a:cubicBezTo>
                  <a:lnTo>
                    <a:pt x="114554" y="687455"/>
                  </a:lnTo>
                  <a:cubicBezTo>
                    <a:pt x="51308" y="687455"/>
                    <a:pt x="0" y="636147"/>
                    <a:pt x="0" y="57290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003969" cy="687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Company / domain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2327" y="4300471"/>
            <a:ext cx="2252977" cy="515620"/>
            <a:chOff x="0" y="0"/>
            <a:chExt cx="3003969" cy="6874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03931" cy="687455"/>
            </a:xfrm>
            <a:custGeom>
              <a:avLst/>
              <a:gdLst/>
              <a:ahLst/>
              <a:cxnLst/>
              <a:rect r="r" b="b" t="t" l="l"/>
              <a:pathLst>
                <a:path h="687455" w="3003931">
                  <a:moveTo>
                    <a:pt x="0" y="114555"/>
                  </a:moveTo>
                  <a:cubicBezTo>
                    <a:pt x="0" y="51308"/>
                    <a:pt x="51308" y="0"/>
                    <a:pt x="114554" y="0"/>
                  </a:cubicBezTo>
                  <a:lnTo>
                    <a:pt x="2889377" y="0"/>
                  </a:lnTo>
                  <a:cubicBezTo>
                    <a:pt x="2952623" y="0"/>
                    <a:pt x="3003931" y="51308"/>
                    <a:pt x="3003931" y="114555"/>
                  </a:cubicBezTo>
                  <a:lnTo>
                    <a:pt x="3003931" y="572901"/>
                  </a:lnTo>
                  <a:cubicBezTo>
                    <a:pt x="3003931" y="636147"/>
                    <a:pt x="2952623" y="687455"/>
                    <a:pt x="2889377" y="687455"/>
                  </a:cubicBezTo>
                  <a:lnTo>
                    <a:pt x="114554" y="687455"/>
                  </a:lnTo>
                  <a:cubicBezTo>
                    <a:pt x="51308" y="687455"/>
                    <a:pt x="0" y="636147"/>
                    <a:pt x="0" y="57290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003969" cy="687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Offer letter / URL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514087" y="1959607"/>
            <a:ext cx="1841497" cy="1155700"/>
            <a:chOff x="0" y="0"/>
            <a:chExt cx="2455329" cy="15409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55291" cy="1540895"/>
            </a:xfrm>
            <a:custGeom>
              <a:avLst/>
              <a:gdLst/>
              <a:ahLst/>
              <a:cxnLst/>
              <a:rect r="r" b="b" t="t" l="l"/>
              <a:pathLst>
                <a:path h="1540895" w="2455291">
                  <a:moveTo>
                    <a:pt x="0" y="256795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2198497" y="0"/>
                  </a:lnTo>
                  <a:cubicBezTo>
                    <a:pt x="2340356" y="0"/>
                    <a:pt x="2455291" y="114935"/>
                    <a:pt x="2455291" y="256795"/>
                  </a:cubicBezTo>
                  <a:lnTo>
                    <a:pt x="2455291" y="1284100"/>
                  </a:lnTo>
                  <a:cubicBezTo>
                    <a:pt x="2455291" y="1425960"/>
                    <a:pt x="2340356" y="1540895"/>
                    <a:pt x="2198497" y="1540895"/>
                  </a:cubicBezTo>
                  <a:lnTo>
                    <a:pt x="256794" y="1540895"/>
                  </a:lnTo>
                  <a:cubicBezTo>
                    <a:pt x="114935" y="1540895"/>
                    <a:pt x="0" y="1425960"/>
                    <a:pt x="0" y="1284100"/>
                  </a:cubicBezTo>
                  <a:close/>
                </a:path>
              </a:pathLst>
            </a:custGeom>
            <a:solidFill>
              <a:srgbClr val="FF5757"/>
            </a:solidFill>
            <a:ln w="12700" cap="sq">
              <a:solidFill>
                <a:srgbClr val="96B4D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455329" cy="154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EXTRACT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entities • URLs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salary • contacts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708647" y="1959607"/>
            <a:ext cx="1841497" cy="1155697"/>
            <a:chOff x="0" y="0"/>
            <a:chExt cx="2455329" cy="15409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5291" cy="1540891"/>
            </a:xfrm>
            <a:custGeom>
              <a:avLst/>
              <a:gdLst/>
              <a:ahLst/>
              <a:cxnLst/>
              <a:rect r="r" b="b" t="t" l="l"/>
              <a:pathLst>
                <a:path h="1540891" w="2455291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2198497" y="0"/>
                  </a:lnTo>
                  <a:cubicBezTo>
                    <a:pt x="2340356" y="0"/>
                    <a:pt x="2455291" y="114935"/>
                    <a:pt x="2455291" y="256794"/>
                  </a:cubicBezTo>
                  <a:lnTo>
                    <a:pt x="2455291" y="1284097"/>
                  </a:lnTo>
                  <a:cubicBezTo>
                    <a:pt x="2455291" y="1425956"/>
                    <a:pt x="2340356" y="1540891"/>
                    <a:pt x="2198497" y="1540891"/>
                  </a:cubicBezTo>
                  <a:lnTo>
                    <a:pt x="256794" y="1540891"/>
                  </a:lnTo>
                  <a:cubicBezTo>
                    <a:pt x="114935" y="1540891"/>
                    <a:pt x="0" y="1425956"/>
                    <a:pt x="0" y="1284097"/>
                  </a:cubicBezTo>
                  <a:close/>
                </a:path>
              </a:pathLst>
            </a:custGeom>
            <a:solidFill>
              <a:srgbClr val="FFBD59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455329" cy="1579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ANALYZE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NLP semantics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red-flag patterns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903207" y="1959607"/>
            <a:ext cx="1841497" cy="1155697"/>
            <a:chOff x="0" y="0"/>
            <a:chExt cx="2455329" cy="15409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55291" cy="1540891"/>
            </a:xfrm>
            <a:custGeom>
              <a:avLst/>
              <a:gdLst/>
              <a:ahLst/>
              <a:cxnLst/>
              <a:rect r="r" b="b" t="t" l="l"/>
              <a:pathLst>
                <a:path h="1540891" w="2455291">
                  <a:moveTo>
                    <a:pt x="0" y="256794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2198497" y="0"/>
                  </a:lnTo>
                  <a:cubicBezTo>
                    <a:pt x="2340356" y="0"/>
                    <a:pt x="2455291" y="114935"/>
                    <a:pt x="2455291" y="256794"/>
                  </a:cubicBezTo>
                  <a:lnTo>
                    <a:pt x="2455291" y="1284097"/>
                  </a:lnTo>
                  <a:cubicBezTo>
                    <a:pt x="2455291" y="1425956"/>
                    <a:pt x="2340356" y="1540891"/>
                    <a:pt x="2198497" y="1540891"/>
                  </a:cubicBezTo>
                  <a:lnTo>
                    <a:pt x="256794" y="1540891"/>
                  </a:lnTo>
                  <a:cubicBezTo>
                    <a:pt x="114935" y="1540891"/>
                    <a:pt x="0" y="1425956"/>
                    <a:pt x="0" y="1284097"/>
                  </a:cubicBezTo>
                  <a:close/>
                </a:path>
              </a:pathLst>
            </a:custGeom>
            <a:solidFill>
              <a:srgbClr val="98CC00"/>
            </a:solidFill>
            <a:ln w="12700" cap="sq">
              <a:solidFill>
                <a:srgbClr val="C3AF7D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455329" cy="1579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VERIFY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domain/email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public-source consistency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97767" y="1959607"/>
            <a:ext cx="1841497" cy="1155700"/>
            <a:chOff x="0" y="0"/>
            <a:chExt cx="2455329" cy="15409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55291" cy="1540895"/>
            </a:xfrm>
            <a:custGeom>
              <a:avLst/>
              <a:gdLst/>
              <a:ahLst/>
              <a:cxnLst/>
              <a:rect r="r" b="b" t="t" l="l"/>
              <a:pathLst>
                <a:path h="1540895" w="2455291">
                  <a:moveTo>
                    <a:pt x="0" y="256795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2198497" y="0"/>
                  </a:lnTo>
                  <a:cubicBezTo>
                    <a:pt x="2340356" y="0"/>
                    <a:pt x="2455291" y="114935"/>
                    <a:pt x="2455291" y="256795"/>
                  </a:cubicBezTo>
                  <a:lnTo>
                    <a:pt x="2455291" y="1284100"/>
                  </a:lnTo>
                  <a:cubicBezTo>
                    <a:pt x="2455291" y="1425960"/>
                    <a:pt x="2340356" y="1540895"/>
                    <a:pt x="2198497" y="1540895"/>
                  </a:cubicBezTo>
                  <a:lnTo>
                    <a:pt x="256794" y="1540895"/>
                  </a:lnTo>
                  <a:cubicBezTo>
                    <a:pt x="114935" y="1540895"/>
                    <a:pt x="0" y="1425960"/>
                    <a:pt x="0" y="1284100"/>
                  </a:cubicBezTo>
                  <a:close/>
                </a:path>
              </a:pathLst>
            </a:custGeom>
            <a:solidFill>
              <a:srgbClr val="3399FF"/>
            </a:solidFill>
            <a:ln w="12700" cap="sq">
              <a:solidFill>
                <a:srgbClr val="A596C3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455329" cy="154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FUSE</a:t>
              </a:r>
            </a:p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weighted signals</a:t>
              </a:r>
            </a:p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confidence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92327" y="1959607"/>
            <a:ext cx="1841497" cy="1155700"/>
            <a:chOff x="0" y="0"/>
            <a:chExt cx="2455329" cy="15409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55291" cy="1540895"/>
            </a:xfrm>
            <a:custGeom>
              <a:avLst/>
              <a:gdLst/>
              <a:ahLst/>
              <a:cxnLst/>
              <a:rect r="r" b="b" t="t" l="l"/>
              <a:pathLst>
                <a:path h="1540895" w="2455291">
                  <a:moveTo>
                    <a:pt x="0" y="256795"/>
                  </a:moveTo>
                  <a:cubicBezTo>
                    <a:pt x="0" y="114935"/>
                    <a:pt x="114935" y="0"/>
                    <a:pt x="256794" y="0"/>
                  </a:cubicBezTo>
                  <a:lnTo>
                    <a:pt x="2198497" y="0"/>
                  </a:lnTo>
                  <a:cubicBezTo>
                    <a:pt x="2340356" y="0"/>
                    <a:pt x="2455291" y="114935"/>
                    <a:pt x="2455291" y="256795"/>
                  </a:cubicBezTo>
                  <a:lnTo>
                    <a:pt x="2455291" y="1284100"/>
                  </a:lnTo>
                  <a:cubicBezTo>
                    <a:pt x="2455291" y="1425960"/>
                    <a:pt x="2340356" y="1540895"/>
                    <a:pt x="2198497" y="1540895"/>
                  </a:cubicBezTo>
                  <a:lnTo>
                    <a:pt x="256794" y="1540895"/>
                  </a:lnTo>
                  <a:cubicBezTo>
                    <a:pt x="114935" y="1540895"/>
                    <a:pt x="0" y="1425960"/>
                    <a:pt x="0" y="1284100"/>
                  </a:cubicBezTo>
                  <a:close/>
                </a:path>
              </a:pathLst>
            </a:custGeom>
            <a:solidFill>
              <a:srgbClr val="CC99FF"/>
            </a:solidFill>
            <a:ln w="12700" cap="sq">
              <a:solidFill>
                <a:srgbClr val="C38C96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55329" cy="154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EXPLAIN</a:t>
              </a:r>
            </a:p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 + evidence</a:t>
              </a:r>
            </a:p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417180">
            <a:off x="5522014" y="2532507"/>
            <a:ext cx="157372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417180">
            <a:off x="7716574" y="2532507"/>
            <a:ext cx="157372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417180">
            <a:off x="9911134" y="2532507"/>
            <a:ext cx="157372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417180">
            <a:off x="12105694" y="2532507"/>
            <a:ext cx="157363" cy="0"/>
          </a:xfrm>
          <a:prstGeom prst="line">
            <a:avLst/>
          </a:prstGeom>
          <a:ln cap="rnd" w="19050">
            <a:solidFill>
              <a:srgbClr val="1E5D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3514087" y="3788407"/>
            <a:ext cx="3670297" cy="835657"/>
            <a:chOff x="0" y="0"/>
            <a:chExt cx="4893729" cy="11142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93691" cy="1114171"/>
            </a:xfrm>
            <a:custGeom>
              <a:avLst/>
              <a:gdLst/>
              <a:ahLst/>
              <a:cxnLst/>
              <a:rect r="r" b="b" t="t" l="l"/>
              <a:pathLst>
                <a:path h="1114171" w="4893691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4708017" y="0"/>
                  </a:lnTo>
                  <a:cubicBezTo>
                    <a:pt x="4810633" y="0"/>
                    <a:pt x="4893691" y="83185"/>
                    <a:pt x="4893691" y="185674"/>
                  </a:cubicBezTo>
                  <a:lnTo>
                    <a:pt x="4893691" y="928497"/>
                  </a:lnTo>
                  <a:cubicBezTo>
                    <a:pt x="4893691" y="1031113"/>
                    <a:pt x="4810506" y="1114171"/>
                    <a:pt x="4708017" y="1114171"/>
                  </a:cubicBezTo>
                  <a:lnTo>
                    <a:pt x="185674" y="1114171"/>
                  </a:lnTo>
                  <a:cubicBezTo>
                    <a:pt x="83185" y="1114171"/>
                    <a:pt x="0" y="1031113"/>
                    <a:pt x="0" y="928497"/>
                  </a:cubicBezTo>
                  <a:close/>
                </a:path>
              </a:pathLst>
            </a:custGeom>
            <a:solidFill>
              <a:srgbClr val="FCF4EB"/>
            </a:solidFill>
            <a:ln w="12700" cap="sq">
              <a:solidFill>
                <a:srgbClr val="D2AA78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893729" cy="111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E09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 ENGINE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E09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 • CAUTION • HIGH RISK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491727" y="3788407"/>
            <a:ext cx="3670297" cy="835657"/>
            <a:chOff x="0" y="0"/>
            <a:chExt cx="4893729" cy="11142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93691" cy="1114171"/>
            </a:xfrm>
            <a:custGeom>
              <a:avLst/>
              <a:gdLst/>
              <a:ahLst/>
              <a:cxnLst/>
              <a:rect r="r" b="b" t="t" l="l"/>
              <a:pathLst>
                <a:path h="1114171" w="4893691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4708017" y="0"/>
                  </a:lnTo>
                  <a:cubicBezTo>
                    <a:pt x="4810633" y="0"/>
                    <a:pt x="4893691" y="83185"/>
                    <a:pt x="4893691" y="185674"/>
                  </a:cubicBezTo>
                  <a:lnTo>
                    <a:pt x="4893691" y="928497"/>
                  </a:lnTo>
                  <a:cubicBezTo>
                    <a:pt x="4893691" y="1031113"/>
                    <a:pt x="4810506" y="1114171"/>
                    <a:pt x="4708017" y="1114171"/>
                  </a:cubicBezTo>
                  <a:lnTo>
                    <a:pt x="185674" y="1114171"/>
                  </a:lnTo>
                  <a:cubicBezTo>
                    <a:pt x="83185" y="1114171"/>
                    <a:pt x="0" y="1031113"/>
                    <a:pt x="0" y="928497"/>
                  </a:cubicBezTo>
                  <a:close/>
                </a:path>
              </a:pathLst>
            </a:custGeom>
            <a:solidFill>
              <a:srgbClr val="EFF6FC"/>
            </a:solidFill>
            <a:ln w="12700" cap="sq">
              <a:solidFill>
                <a:srgbClr val="96AFCD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893729" cy="111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EXPLANATION CARD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 behind every flag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69367" y="3788407"/>
            <a:ext cx="2755897" cy="835657"/>
            <a:chOff x="0" y="0"/>
            <a:chExt cx="3674529" cy="111420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74491" cy="1114171"/>
            </a:xfrm>
            <a:custGeom>
              <a:avLst/>
              <a:gdLst/>
              <a:ahLst/>
              <a:cxnLst/>
              <a:rect r="r" b="b" t="t" l="l"/>
              <a:pathLst>
                <a:path h="1114171" w="3674491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3488817" y="0"/>
                  </a:lnTo>
                  <a:cubicBezTo>
                    <a:pt x="3591433" y="0"/>
                    <a:pt x="3674491" y="83185"/>
                    <a:pt x="3674491" y="185674"/>
                  </a:cubicBezTo>
                  <a:lnTo>
                    <a:pt x="3674491" y="928497"/>
                  </a:lnTo>
                  <a:cubicBezTo>
                    <a:pt x="3674491" y="1031113"/>
                    <a:pt x="3591306" y="1114171"/>
                    <a:pt x="3488817" y="1114171"/>
                  </a:cubicBezTo>
                  <a:lnTo>
                    <a:pt x="185674" y="1114171"/>
                  </a:lnTo>
                  <a:cubicBezTo>
                    <a:pt x="83185" y="1114171"/>
                    <a:pt x="0" y="1031113"/>
                    <a:pt x="0" y="928497"/>
                  </a:cubicBezTo>
                  <a:close/>
                </a:path>
              </a:pathLst>
            </a:custGeom>
            <a:solidFill>
              <a:srgbClr val="FAEFF1"/>
            </a:solidFill>
            <a:ln w="12700" cap="sq">
              <a:solidFill>
                <a:srgbClr val="C8919B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674529" cy="1114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C3394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ACTION</a:t>
              </a:r>
            </a:p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C3394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Verify / Avoid / Report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8047" y="5571487"/>
            <a:ext cx="13454377" cy="927100"/>
            <a:chOff x="0" y="0"/>
            <a:chExt cx="17939169" cy="123613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939131" cy="1236095"/>
            </a:xfrm>
            <a:custGeom>
              <a:avLst/>
              <a:gdLst/>
              <a:ahLst/>
              <a:cxnLst/>
              <a:rect r="r" b="b" t="t" l="l"/>
              <a:pathLst>
                <a:path h="1236095" w="17939131">
                  <a:moveTo>
                    <a:pt x="0" y="205995"/>
                  </a:moveTo>
                  <a:cubicBezTo>
                    <a:pt x="0" y="92202"/>
                    <a:pt x="92202" y="0"/>
                    <a:pt x="205994" y="0"/>
                  </a:cubicBezTo>
                  <a:lnTo>
                    <a:pt x="17733138" y="0"/>
                  </a:lnTo>
                  <a:cubicBezTo>
                    <a:pt x="17846929" y="0"/>
                    <a:pt x="17939131" y="92202"/>
                    <a:pt x="17939131" y="205995"/>
                  </a:cubicBezTo>
                  <a:lnTo>
                    <a:pt x="17939131" y="1030100"/>
                  </a:lnTo>
                  <a:cubicBezTo>
                    <a:pt x="17939131" y="1143893"/>
                    <a:pt x="17846929" y="1236095"/>
                    <a:pt x="17733138" y="1236095"/>
                  </a:cubicBezTo>
                  <a:lnTo>
                    <a:pt x="205994" y="1236095"/>
                  </a:lnTo>
                  <a:cubicBezTo>
                    <a:pt x="92202" y="1236095"/>
                    <a:pt x="0" y="1143893"/>
                    <a:pt x="0" y="1030100"/>
                  </a:cubicBezTo>
                  <a:close/>
                </a:path>
              </a:pathLst>
            </a:custGeom>
            <a:solidFill>
              <a:srgbClr val="F5F7FA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7939169" cy="1236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 STACK  |  Python • FastAPI • React/Next.js • PostgreSQL • scikit-learn • Sentence-Transformers • DNS/WHOIS/URL signals • Public verification sources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9584198"/>
            <a:ext cx="4281459" cy="6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79733" y="1203017"/>
            <a:ext cx="16802100" cy="8288455"/>
            <a:chOff x="0" y="0"/>
            <a:chExt cx="22402800" cy="11051273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2402800" cy="11051286"/>
            </a:xfrm>
            <a:custGeom>
              <a:avLst/>
              <a:gdLst/>
              <a:ahLst/>
              <a:cxnLst/>
              <a:rect r="r" b="b" t="t" l="l"/>
              <a:pathLst>
                <a:path h="11051286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11051286"/>
                  </a:lnTo>
                  <a:lnTo>
                    <a:pt x="0" y="11051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1839" r="0" b="-4183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495519" y="689896"/>
            <a:ext cx="976379" cy="49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8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04 //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102" y="337471"/>
            <a:ext cx="7064712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499" b="true">
                <a:solidFill>
                  <a:srgbClr val="141414"/>
                </a:solidFill>
                <a:latin typeface="Aptos Bold"/>
                <a:ea typeface="Aptos Bold"/>
                <a:cs typeface="Aptos Bold"/>
                <a:sym typeface="Aptos Bold"/>
              </a:rPr>
              <a:t>FEASIBILITY AND VIABILITY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2950" y="1271588"/>
            <a:ext cx="16802100" cy="28575"/>
            <a:chOff x="0" y="0"/>
            <a:chExt cx="224028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02800" cy="38100"/>
            </a:xfrm>
            <a:custGeom>
              <a:avLst/>
              <a:gdLst/>
              <a:ahLst/>
              <a:cxnLst/>
              <a:rect r="r" b="b" t="t" l="l"/>
              <a:pathLst>
                <a:path h="38100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2327" y="1821361"/>
            <a:ext cx="4173217" cy="652777"/>
            <a:chOff x="0" y="0"/>
            <a:chExt cx="5564289" cy="870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64251" cy="870331"/>
            </a:xfrm>
            <a:custGeom>
              <a:avLst/>
              <a:gdLst/>
              <a:ahLst/>
              <a:cxnLst/>
              <a:rect r="r" b="b" t="t" l="l"/>
              <a:pathLst>
                <a:path h="870331" w="5564251">
                  <a:moveTo>
                    <a:pt x="0" y="145034"/>
                  </a:moveTo>
                  <a:cubicBezTo>
                    <a:pt x="0" y="64897"/>
                    <a:pt x="64897" y="0"/>
                    <a:pt x="145034" y="0"/>
                  </a:cubicBezTo>
                  <a:lnTo>
                    <a:pt x="5419217" y="0"/>
                  </a:lnTo>
                  <a:cubicBezTo>
                    <a:pt x="5499354" y="0"/>
                    <a:pt x="5564251" y="64897"/>
                    <a:pt x="5564251" y="145034"/>
                  </a:cubicBezTo>
                  <a:lnTo>
                    <a:pt x="5564251" y="725297"/>
                  </a:lnTo>
                  <a:cubicBezTo>
                    <a:pt x="5564251" y="805434"/>
                    <a:pt x="5499354" y="870331"/>
                    <a:pt x="5419217" y="870331"/>
                  </a:cubicBezTo>
                  <a:lnTo>
                    <a:pt x="145034" y="870331"/>
                  </a:lnTo>
                  <a:cubicBezTo>
                    <a:pt x="64897" y="870331"/>
                    <a:pt x="0" y="805434"/>
                    <a:pt x="0" y="725297"/>
                  </a:cubicBezTo>
                  <a:close/>
                </a:path>
              </a:pathLst>
            </a:custGeom>
            <a:solidFill>
              <a:srgbClr val="EEF8F4"/>
            </a:solidFill>
            <a:ln w="12700" cap="sq">
              <a:solidFill>
                <a:srgbClr val="8CBEA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564289" cy="870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387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FEASIBLE NOW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8047" y="2654551"/>
            <a:ext cx="4081777" cy="543049"/>
            <a:chOff x="0" y="0"/>
            <a:chExt cx="5442369" cy="7240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Pre-trained language models reduce training cost.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047" y="3294459"/>
            <a:ext cx="4081777" cy="543049"/>
            <a:chOff x="0" y="0"/>
            <a:chExt cx="5442369" cy="7240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Most signals are obtainable from the submitted content + public web metadata.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8047" y="4204230"/>
            <a:ext cx="4081777" cy="543049"/>
            <a:chOff x="0" y="0"/>
            <a:chExt cx="5442369" cy="7240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Modular API architecture lets us ship an MVP before advanced verification.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8047" y="5114001"/>
            <a:ext cx="4081777" cy="543049"/>
            <a:chOff x="0" y="0"/>
            <a:chExt cx="5442369" cy="7240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Round 1 is an idea submission; prototype can be built incrementally.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90676" y="1713014"/>
            <a:ext cx="4173217" cy="652777"/>
            <a:chOff x="0" y="0"/>
            <a:chExt cx="5564289" cy="8703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64251" cy="870331"/>
            </a:xfrm>
            <a:custGeom>
              <a:avLst/>
              <a:gdLst/>
              <a:ahLst/>
              <a:cxnLst/>
              <a:rect r="r" b="b" t="t" l="l"/>
              <a:pathLst>
                <a:path h="870331" w="5564251">
                  <a:moveTo>
                    <a:pt x="0" y="145034"/>
                  </a:moveTo>
                  <a:cubicBezTo>
                    <a:pt x="0" y="64897"/>
                    <a:pt x="64897" y="0"/>
                    <a:pt x="145034" y="0"/>
                  </a:cubicBezTo>
                  <a:lnTo>
                    <a:pt x="5419217" y="0"/>
                  </a:lnTo>
                  <a:cubicBezTo>
                    <a:pt x="5499354" y="0"/>
                    <a:pt x="5564251" y="64897"/>
                    <a:pt x="5564251" y="145034"/>
                  </a:cubicBezTo>
                  <a:lnTo>
                    <a:pt x="5564251" y="725297"/>
                  </a:lnTo>
                  <a:cubicBezTo>
                    <a:pt x="5564251" y="805434"/>
                    <a:pt x="5499354" y="870331"/>
                    <a:pt x="5419217" y="870331"/>
                  </a:cubicBezTo>
                  <a:lnTo>
                    <a:pt x="145034" y="870331"/>
                  </a:lnTo>
                  <a:cubicBezTo>
                    <a:pt x="64897" y="870331"/>
                    <a:pt x="0" y="805434"/>
                    <a:pt x="0" y="725297"/>
                  </a:cubicBezTo>
                  <a:close/>
                </a:path>
              </a:pathLst>
            </a:custGeom>
            <a:solidFill>
              <a:srgbClr val="FDF5EB"/>
            </a:solidFill>
            <a:ln w="12700" cap="sq">
              <a:solidFill>
                <a:srgbClr val="CDAA7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564289" cy="860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E0942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RISKS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13072" y="2654551"/>
            <a:ext cx="4081777" cy="543049"/>
            <a:chOff x="0" y="0"/>
            <a:chExt cx="5442369" cy="7240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False positives can block genuine opportunities.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913072" y="3450079"/>
            <a:ext cx="4081777" cy="543049"/>
            <a:chOff x="0" y="0"/>
            <a:chExt cx="5442369" cy="7240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Scammers can rotate domains, numbers and wording.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913072" y="4245607"/>
            <a:ext cx="4081777" cy="543049"/>
            <a:chOff x="0" y="0"/>
            <a:chExt cx="5442369" cy="7240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Public data can be incomplete or stale.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980424" y="5137147"/>
            <a:ext cx="4081777" cy="543049"/>
            <a:chOff x="0" y="0"/>
            <a:chExt cx="5442369" cy="7240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Privacy risk if users upload sensitive documents.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395072" y="1731007"/>
            <a:ext cx="4173217" cy="652777"/>
            <a:chOff x="0" y="0"/>
            <a:chExt cx="5564289" cy="87036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64251" cy="870331"/>
            </a:xfrm>
            <a:custGeom>
              <a:avLst/>
              <a:gdLst/>
              <a:ahLst/>
              <a:cxnLst/>
              <a:rect r="r" b="b" t="t" l="l"/>
              <a:pathLst>
                <a:path h="870331" w="5564251">
                  <a:moveTo>
                    <a:pt x="0" y="145034"/>
                  </a:moveTo>
                  <a:cubicBezTo>
                    <a:pt x="0" y="64897"/>
                    <a:pt x="64897" y="0"/>
                    <a:pt x="145034" y="0"/>
                  </a:cubicBezTo>
                  <a:lnTo>
                    <a:pt x="5419217" y="0"/>
                  </a:lnTo>
                  <a:cubicBezTo>
                    <a:pt x="5499354" y="0"/>
                    <a:pt x="5564251" y="64897"/>
                    <a:pt x="5564251" y="145034"/>
                  </a:cubicBezTo>
                  <a:lnTo>
                    <a:pt x="5564251" y="725297"/>
                  </a:lnTo>
                  <a:cubicBezTo>
                    <a:pt x="5564251" y="805434"/>
                    <a:pt x="5499354" y="870331"/>
                    <a:pt x="5419217" y="870331"/>
                  </a:cubicBezTo>
                  <a:lnTo>
                    <a:pt x="145034" y="870331"/>
                  </a:lnTo>
                  <a:cubicBezTo>
                    <a:pt x="64897" y="870331"/>
                    <a:pt x="0" y="805434"/>
                    <a:pt x="0" y="725297"/>
                  </a:cubicBezTo>
                  <a:close/>
                </a:path>
              </a:pathLst>
            </a:custGeom>
            <a:solidFill>
              <a:srgbClr val="EFF4FB"/>
            </a:solidFill>
            <a:ln w="12700" cap="sq">
              <a:solidFill>
                <a:srgbClr val="96AFCD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5564289" cy="870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MITIGATION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395072" y="2764107"/>
            <a:ext cx="4081777" cy="543049"/>
            <a:chOff x="0" y="0"/>
            <a:chExt cx="5442369" cy="7240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Use confidence bands + 'verify' state instead of binary verdicts.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95072" y="3486655"/>
            <a:ext cx="4081777" cy="543049"/>
            <a:chOff x="0" y="0"/>
            <a:chExt cx="5442369" cy="7240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Fuse independent signals so one changed field is not enough.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395072" y="5124288"/>
            <a:ext cx="4081777" cy="543049"/>
            <a:chOff x="0" y="0"/>
            <a:chExt cx="5442369" cy="72406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Show source timestamps and evidence; never invent verification.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395072" y="4291327"/>
            <a:ext cx="4081777" cy="543049"/>
            <a:chOff x="0" y="0"/>
            <a:chExt cx="5442369" cy="72406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42331" cy="724027"/>
            </a:xfrm>
            <a:custGeom>
              <a:avLst/>
              <a:gdLst/>
              <a:ahLst/>
              <a:cxnLst/>
              <a:rect r="r" b="b" t="t" l="l"/>
              <a:pathLst>
                <a:path h="724027" w="5442331">
                  <a:moveTo>
                    <a:pt x="0" y="120650"/>
                  </a:moveTo>
                  <a:cubicBezTo>
                    <a:pt x="0" y="53975"/>
                    <a:pt x="53975" y="0"/>
                    <a:pt x="120650" y="0"/>
                  </a:cubicBezTo>
                  <a:lnTo>
                    <a:pt x="5321681" y="0"/>
                  </a:lnTo>
                  <a:cubicBezTo>
                    <a:pt x="5388356" y="0"/>
                    <a:pt x="5442331" y="53975"/>
                    <a:pt x="5442331" y="120650"/>
                  </a:cubicBezTo>
                  <a:lnTo>
                    <a:pt x="5442331" y="603377"/>
                  </a:lnTo>
                  <a:cubicBezTo>
                    <a:pt x="5442331" y="670052"/>
                    <a:pt x="5388356" y="724027"/>
                    <a:pt x="5321681" y="724027"/>
                  </a:cubicBezTo>
                  <a:lnTo>
                    <a:pt x="120650" y="724027"/>
                  </a:lnTo>
                  <a:cubicBezTo>
                    <a:pt x="53975" y="724027"/>
                    <a:pt x="0" y="670052"/>
                    <a:pt x="0" y="60337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442369" cy="724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• Minimize stored data; redact PII and encrypt sensitive inputs.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-6353" y="7061959"/>
            <a:ext cx="17521218" cy="1144200"/>
            <a:chOff x="0" y="0"/>
            <a:chExt cx="23361625" cy="1525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361650" cy="1525524"/>
            </a:xfrm>
            <a:custGeom>
              <a:avLst/>
              <a:gdLst/>
              <a:ahLst/>
              <a:cxnLst/>
              <a:rect r="r" b="b" t="t" l="l"/>
              <a:pathLst>
                <a:path h="1525524" w="23361650">
                  <a:moveTo>
                    <a:pt x="0" y="254254"/>
                  </a:moveTo>
                  <a:cubicBezTo>
                    <a:pt x="0" y="113792"/>
                    <a:pt x="113792" y="0"/>
                    <a:pt x="254254" y="0"/>
                  </a:cubicBezTo>
                  <a:lnTo>
                    <a:pt x="23107396" y="0"/>
                  </a:lnTo>
                  <a:cubicBezTo>
                    <a:pt x="23247858" y="0"/>
                    <a:pt x="23361650" y="113792"/>
                    <a:pt x="23361650" y="254254"/>
                  </a:cubicBezTo>
                  <a:lnTo>
                    <a:pt x="23361650" y="1271270"/>
                  </a:lnTo>
                  <a:cubicBezTo>
                    <a:pt x="23361650" y="1411732"/>
                    <a:pt x="23247858" y="1525524"/>
                    <a:pt x="23107396" y="1525524"/>
                  </a:cubicBezTo>
                  <a:lnTo>
                    <a:pt x="254254" y="1525524"/>
                  </a:lnTo>
                  <a:cubicBezTo>
                    <a:pt x="113792" y="1525651"/>
                    <a:pt x="0" y="1411732"/>
                    <a:pt x="0" y="1271270"/>
                  </a:cubicBezTo>
                  <a:close/>
                </a:path>
              </a:pathLst>
            </a:custGeom>
            <a:solidFill>
              <a:srgbClr val="F5F7FA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3361625" cy="152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VIABILITY PATH  →  MVP: job-text + URL analysis  →  beta: recruiter/company verification  →  scale: feedback loop + threat intelligence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9584198"/>
            <a:ext cx="4281459" cy="6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950" y="1478756"/>
            <a:ext cx="16802100" cy="7981664"/>
            <a:chOff x="0" y="0"/>
            <a:chExt cx="22402800" cy="10642219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2402800" cy="10642219"/>
            </a:xfrm>
            <a:custGeom>
              <a:avLst/>
              <a:gdLst/>
              <a:ahLst/>
              <a:cxnLst/>
              <a:rect r="r" b="b" t="t" l="l"/>
              <a:pathLst>
                <a:path h="10642219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10642219"/>
                  </a:lnTo>
                  <a:lnTo>
                    <a:pt x="0" y="10642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369" r="0" b="-4536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495519" y="689896"/>
            <a:ext cx="976379" cy="49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8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05 //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102" y="337471"/>
            <a:ext cx="6007513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499" b="true">
                <a:solidFill>
                  <a:srgbClr val="141414"/>
                </a:solidFill>
                <a:latin typeface="Aptos Bold"/>
                <a:ea typeface="Aptos Bold"/>
                <a:cs typeface="Aptos Bold"/>
                <a:sym typeface="Aptos Bold"/>
              </a:rPr>
              <a:t>IMPACT AND BENEFITS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2950" y="1271588"/>
            <a:ext cx="16802100" cy="28575"/>
            <a:chOff x="0" y="0"/>
            <a:chExt cx="224028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02800" cy="38100"/>
            </a:xfrm>
            <a:custGeom>
              <a:avLst/>
              <a:gdLst/>
              <a:ahLst/>
              <a:cxnLst/>
              <a:rect r="r" b="b" t="t" l="l"/>
              <a:pathLst>
                <a:path h="38100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8047" y="2645407"/>
            <a:ext cx="3258817" cy="1384297"/>
            <a:chOff x="0" y="0"/>
            <a:chExt cx="4345089" cy="1845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45051" cy="1845691"/>
            </a:xfrm>
            <a:custGeom>
              <a:avLst/>
              <a:gdLst/>
              <a:ahLst/>
              <a:cxnLst/>
              <a:rect r="r" b="b" t="t" l="l"/>
              <a:pathLst>
                <a:path h="1845691" w="4345051">
                  <a:moveTo>
                    <a:pt x="0" y="307594"/>
                  </a:moveTo>
                  <a:cubicBezTo>
                    <a:pt x="0" y="137668"/>
                    <a:pt x="137668" y="0"/>
                    <a:pt x="307594" y="0"/>
                  </a:cubicBezTo>
                  <a:lnTo>
                    <a:pt x="4037457" y="0"/>
                  </a:lnTo>
                  <a:cubicBezTo>
                    <a:pt x="4207383" y="0"/>
                    <a:pt x="4345051" y="137668"/>
                    <a:pt x="4345051" y="307594"/>
                  </a:cubicBezTo>
                  <a:lnTo>
                    <a:pt x="4345051" y="1538097"/>
                  </a:lnTo>
                  <a:cubicBezTo>
                    <a:pt x="4345051" y="1708023"/>
                    <a:pt x="4207383" y="1845691"/>
                    <a:pt x="4037457" y="1845691"/>
                  </a:cubicBezTo>
                  <a:lnTo>
                    <a:pt x="307594" y="1845691"/>
                  </a:lnTo>
                  <a:cubicBezTo>
                    <a:pt x="137668" y="1845691"/>
                    <a:pt x="0" y="1708023"/>
                    <a:pt x="0" y="1538097"/>
                  </a:cubicBezTo>
                  <a:close/>
                </a:path>
              </a:pathLst>
            </a:custGeom>
            <a:solidFill>
              <a:srgbClr val="FCF2F0"/>
            </a:solidFill>
            <a:ln w="12700" cap="sq">
              <a:solidFill>
                <a:srgbClr val="C3394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345089" cy="1845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FINANCIAL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Flags payment / fee red flags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before money is sent.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51447" y="2759707"/>
            <a:ext cx="3258817" cy="1384297"/>
            <a:chOff x="0" y="0"/>
            <a:chExt cx="4345089" cy="184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45051" cy="1845691"/>
            </a:xfrm>
            <a:custGeom>
              <a:avLst/>
              <a:gdLst/>
              <a:ahLst/>
              <a:cxnLst/>
              <a:rect r="r" b="b" t="t" l="l"/>
              <a:pathLst>
                <a:path h="1845691" w="4345051">
                  <a:moveTo>
                    <a:pt x="0" y="307594"/>
                  </a:moveTo>
                  <a:cubicBezTo>
                    <a:pt x="0" y="137668"/>
                    <a:pt x="137668" y="0"/>
                    <a:pt x="307594" y="0"/>
                  </a:cubicBezTo>
                  <a:lnTo>
                    <a:pt x="4037457" y="0"/>
                  </a:lnTo>
                  <a:cubicBezTo>
                    <a:pt x="4207383" y="0"/>
                    <a:pt x="4345051" y="137668"/>
                    <a:pt x="4345051" y="307594"/>
                  </a:cubicBezTo>
                  <a:lnTo>
                    <a:pt x="4345051" y="1538097"/>
                  </a:lnTo>
                  <a:cubicBezTo>
                    <a:pt x="4345051" y="1708023"/>
                    <a:pt x="4207383" y="1845691"/>
                    <a:pt x="4037457" y="1845691"/>
                  </a:cubicBezTo>
                  <a:lnTo>
                    <a:pt x="307594" y="1845691"/>
                  </a:lnTo>
                  <a:cubicBezTo>
                    <a:pt x="137668" y="1845691"/>
                    <a:pt x="0" y="1708023"/>
                    <a:pt x="0" y="1538097"/>
                  </a:cubicBezTo>
                  <a:close/>
                </a:path>
              </a:pathLst>
            </a:custGeom>
            <a:solidFill>
              <a:srgbClr val="F4F8F1"/>
            </a:solidFill>
            <a:ln w="12700" cap="sq">
              <a:solidFill>
                <a:srgbClr val="23875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345089" cy="1845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PRIVACY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Warns when a posting seeks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unusual personal data.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33224" y="2645407"/>
            <a:ext cx="3258817" cy="1384297"/>
            <a:chOff x="0" y="0"/>
            <a:chExt cx="4345089" cy="1845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45051" cy="1845691"/>
            </a:xfrm>
            <a:custGeom>
              <a:avLst/>
              <a:gdLst/>
              <a:ahLst/>
              <a:cxnLst/>
              <a:rect r="r" b="b" t="t" l="l"/>
              <a:pathLst>
                <a:path h="1845691" w="4345051">
                  <a:moveTo>
                    <a:pt x="0" y="307594"/>
                  </a:moveTo>
                  <a:cubicBezTo>
                    <a:pt x="0" y="137668"/>
                    <a:pt x="137668" y="0"/>
                    <a:pt x="307594" y="0"/>
                  </a:cubicBezTo>
                  <a:lnTo>
                    <a:pt x="4037457" y="0"/>
                  </a:lnTo>
                  <a:cubicBezTo>
                    <a:pt x="4207383" y="0"/>
                    <a:pt x="4345051" y="137668"/>
                    <a:pt x="4345051" y="307594"/>
                  </a:cubicBezTo>
                  <a:lnTo>
                    <a:pt x="4345051" y="1538097"/>
                  </a:lnTo>
                  <a:cubicBezTo>
                    <a:pt x="4345051" y="1708023"/>
                    <a:pt x="4207383" y="1845691"/>
                    <a:pt x="4037457" y="1845691"/>
                  </a:cubicBezTo>
                  <a:lnTo>
                    <a:pt x="307594" y="1845691"/>
                  </a:lnTo>
                  <a:cubicBezTo>
                    <a:pt x="137668" y="1845691"/>
                    <a:pt x="0" y="1708023"/>
                    <a:pt x="0" y="1538097"/>
                  </a:cubicBezTo>
                  <a:close/>
                </a:path>
              </a:pathLst>
            </a:custGeom>
            <a:solidFill>
              <a:srgbClr val="F2F4FB"/>
            </a:solidFill>
            <a:ln w="12700" cap="sq">
              <a:solidFill>
                <a:srgbClr val="1E5DA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345089" cy="1845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DECISION QUALITY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Explains evidence so users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D35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 verify—not blindly trust.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236702" y="2645407"/>
            <a:ext cx="3258817" cy="1384297"/>
            <a:chOff x="0" y="0"/>
            <a:chExt cx="4345089" cy="1845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45051" cy="1845691"/>
            </a:xfrm>
            <a:custGeom>
              <a:avLst/>
              <a:gdLst/>
              <a:ahLst/>
              <a:cxnLst/>
              <a:rect r="r" b="b" t="t" l="l"/>
              <a:pathLst>
                <a:path h="1845691" w="4345051">
                  <a:moveTo>
                    <a:pt x="0" y="307594"/>
                  </a:moveTo>
                  <a:cubicBezTo>
                    <a:pt x="0" y="137668"/>
                    <a:pt x="137668" y="0"/>
                    <a:pt x="307594" y="0"/>
                  </a:cubicBezTo>
                  <a:lnTo>
                    <a:pt x="4037457" y="0"/>
                  </a:lnTo>
                  <a:cubicBezTo>
                    <a:pt x="4207383" y="0"/>
                    <a:pt x="4345051" y="137668"/>
                    <a:pt x="4345051" y="307594"/>
                  </a:cubicBezTo>
                  <a:lnTo>
                    <a:pt x="4345051" y="1538097"/>
                  </a:lnTo>
                  <a:cubicBezTo>
                    <a:pt x="4345051" y="1708023"/>
                    <a:pt x="4207383" y="1845691"/>
                    <a:pt x="4037457" y="1845691"/>
                  </a:cubicBezTo>
                  <a:lnTo>
                    <a:pt x="307594" y="1845691"/>
                  </a:lnTo>
                  <a:cubicBezTo>
                    <a:pt x="137668" y="1845691"/>
                    <a:pt x="0" y="1708023"/>
                    <a:pt x="0" y="1538097"/>
                  </a:cubicBezTo>
                  <a:close/>
                </a:path>
              </a:pathLst>
            </a:custGeom>
            <a:solidFill>
              <a:srgbClr val="FBF7EE"/>
            </a:solidFill>
            <a:ln w="12700" cap="sq">
              <a:solidFill>
                <a:srgbClr val="E0942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45089" cy="1883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3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Low-friction screening for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3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students &amp; job seekers.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78023" y="4645657"/>
            <a:ext cx="4081777" cy="1247137"/>
            <a:chOff x="0" y="0"/>
            <a:chExt cx="5442369" cy="16628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2331" cy="1662811"/>
            </a:xfrm>
            <a:custGeom>
              <a:avLst/>
              <a:gdLst/>
              <a:ahLst/>
              <a:cxnLst/>
              <a:rect r="r" b="b" t="t" l="l"/>
              <a:pathLst>
                <a:path h="1662811" w="5442331">
                  <a:moveTo>
                    <a:pt x="0" y="277114"/>
                  </a:moveTo>
                  <a:cubicBezTo>
                    <a:pt x="0" y="124079"/>
                    <a:pt x="124079" y="0"/>
                    <a:pt x="277114" y="0"/>
                  </a:cubicBezTo>
                  <a:lnTo>
                    <a:pt x="5165217" y="0"/>
                  </a:lnTo>
                  <a:cubicBezTo>
                    <a:pt x="5318252" y="0"/>
                    <a:pt x="5442331" y="124079"/>
                    <a:pt x="5442331" y="277114"/>
                  </a:cubicBezTo>
                  <a:lnTo>
                    <a:pt x="5442331" y="1385697"/>
                  </a:lnTo>
                  <a:cubicBezTo>
                    <a:pt x="5442331" y="1538732"/>
                    <a:pt x="5318252" y="1662811"/>
                    <a:pt x="5165217" y="1662811"/>
                  </a:cubicBezTo>
                  <a:lnTo>
                    <a:pt x="277114" y="1662811"/>
                  </a:lnTo>
                  <a:cubicBezTo>
                    <a:pt x="124079" y="1662811"/>
                    <a:pt x="0" y="1538732"/>
                    <a:pt x="0" y="13856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442369" cy="1662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SOCIAL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Reduce exposure to recruitment scams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 improve digital safety literacy.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69375" y="4565647"/>
            <a:ext cx="4081777" cy="1247137"/>
            <a:chOff x="0" y="0"/>
            <a:chExt cx="5442369" cy="16628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2331" cy="1662811"/>
            </a:xfrm>
            <a:custGeom>
              <a:avLst/>
              <a:gdLst/>
              <a:ahLst/>
              <a:cxnLst/>
              <a:rect r="r" b="b" t="t" l="l"/>
              <a:pathLst>
                <a:path h="1662811" w="5442331">
                  <a:moveTo>
                    <a:pt x="0" y="277114"/>
                  </a:moveTo>
                  <a:cubicBezTo>
                    <a:pt x="0" y="124079"/>
                    <a:pt x="124079" y="0"/>
                    <a:pt x="277114" y="0"/>
                  </a:cubicBezTo>
                  <a:lnTo>
                    <a:pt x="5165217" y="0"/>
                  </a:lnTo>
                  <a:cubicBezTo>
                    <a:pt x="5318252" y="0"/>
                    <a:pt x="5442331" y="124079"/>
                    <a:pt x="5442331" y="277114"/>
                  </a:cubicBezTo>
                  <a:lnTo>
                    <a:pt x="5442331" y="1385697"/>
                  </a:lnTo>
                  <a:cubicBezTo>
                    <a:pt x="5442331" y="1538732"/>
                    <a:pt x="5318252" y="1662811"/>
                    <a:pt x="5165217" y="1662811"/>
                  </a:cubicBezTo>
                  <a:lnTo>
                    <a:pt x="277114" y="1662811"/>
                  </a:lnTo>
                  <a:cubicBezTo>
                    <a:pt x="124079" y="1662811"/>
                    <a:pt x="0" y="1538732"/>
                    <a:pt x="0" y="13856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442369" cy="1662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ECONOMIC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Prevent avoidable fees, identity theft,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 wasted time in fraudulent hiring.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62632" y="4588507"/>
            <a:ext cx="4081777" cy="1247137"/>
            <a:chOff x="0" y="0"/>
            <a:chExt cx="5442369" cy="16628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42331" cy="1662811"/>
            </a:xfrm>
            <a:custGeom>
              <a:avLst/>
              <a:gdLst/>
              <a:ahLst/>
              <a:cxnLst/>
              <a:rect r="r" b="b" t="t" l="l"/>
              <a:pathLst>
                <a:path h="1662811" w="5442331">
                  <a:moveTo>
                    <a:pt x="0" y="277114"/>
                  </a:moveTo>
                  <a:cubicBezTo>
                    <a:pt x="0" y="124079"/>
                    <a:pt x="124079" y="0"/>
                    <a:pt x="277114" y="0"/>
                  </a:cubicBezTo>
                  <a:lnTo>
                    <a:pt x="5165217" y="0"/>
                  </a:lnTo>
                  <a:cubicBezTo>
                    <a:pt x="5318252" y="0"/>
                    <a:pt x="5442331" y="124079"/>
                    <a:pt x="5442331" y="277114"/>
                  </a:cubicBezTo>
                  <a:lnTo>
                    <a:pt x="5442331" y="1385697"/>
                  </a:lnTo>
                  <a:cubicBezTo>
                    <a:pt x="5442331" y="1538732"/>
                    <a:pt x="5318252" y="1662811"/>
                    <a:pt x="5165217" y="1662811"/>
                  </a:cubicBezTo>
                  <a:lnTo>
                    <a:pt x="277114" y="1662811"/>
                  </a:lnTo>
                  <a:cubicBezTo>
                    <a:pt x="124079" y="1662811"/>
                    <a:pt x="0" y="1538732"/>
                    <a:pt x="0" y="13856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442369" cy="1662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ECOSYSTEM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 a reusable trust signal layer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41E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 job portals, colleges &amp; communities.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736847" y="6394447"/>
            <a:ext cx="9156697" cy="579625"/>
            <a:chOff x="0" y="0"/>
            <a:chExt cx="12208929" cy="7728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208891" cy="772795"/>
            </a:xfrm>
            <a:custGeom>
              <a:avLst/>
              <a:gdLst/>
              <a:ahLst/>
              <a:cxnLst/>
              <a:rect r="r" b="b" t="t" l="l"/>
              <a:pathLst>
                <a:path h="772795" w="12208891">
                  <a:moveTo>
                    <a:pt x="0" y="128778"/>
                  </a:moveTo>
                  <a:cubicBezTo>
                    <a:pt x="0" y="57658"/>
                    <a:pt x="57658" y="0"/>
                    <a:pt x="128778" y="0"/>
                  </a:cubicBezTo>
                  <a:lnTo>
                    <a:pt x="12080113" y="0"/>
                  </a:lnTo>
                  <a:cubicBezTo>
                    <a:pt x="12151233" y="0"/>
                    <a:pt x="12208891" y="57658"/>
                    <a:pt x="12208891" y="128778"/>
                  </a:cubicBezTo>
                  <a:lnTo>
                    <a:pt x="12208891" y="644017"/>
                  </a:lnTo>
                  <a:cubicBezTo>
                    <a:pt x="12208891" y="715137"/>
                    <a:pt x="12151233" y="772795"/>
                    <a:pt x="12080113" y="772795"/>
                  </a:cubicBezTo>
                  <a:lnTo>
                    <a:pt x="128778" y="772795"/>
                  </a:lnTo>
                  <a:cubicBezTo>
                    <a:pt x="57658" y="772795"/>
                    <a:pt x="0" y="715137"/>
                    <a:pt x="0" y="644017"/>
                  </a:cubicBezTo>
                  <a:close/>
                </a:path>
              </a:pathLst>
            </a:custGeom>
            <a:solidFill>
              <a:srgbClr val="EFF9F6"/>
            </a:solidFill>
            <a:ln w="12700" cap="sq">
              <a:solidFill>
                <a:srgbClr val="87B9A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2208929" cy="78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387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NORTH STAR  •  Detect earlier → explain clearly → help users act safely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059800" y="1311956"/>
            <a:ext cx="5474255" cy="914350"/>
            <a:chOff x="0" y="0"/>
            <a:chExt cx="4893729" cy="8173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93691" cy="817361"/>
            </a:xfrm>
            <a:custGeom>
              <a:avLst/>
              <a:gdLst/>
              <a:ahLst/>
              <a:cxnLst/>
              <a:rect r="r" b="b" t="t" l="l"/>
              <a:pathLst>
                <a:path h="817361" w="4893691">
                  <a:moveTo>
                    <a:pt x="0" y="136213"/>
                  </a:moveTo>
                  <a:cubicBezTo>
                    <a:pt x="0" y="60968"/>
                    <a:pt x="92202" y="0"/>
                    <a:pt x="205994" y="0"/>
                  </a:cubicBezTo>
                  <a:lnTo>
                    <a:pt x="4687697" y="0"/>
                  </a:lnTo>
                  <a:cubicBezTo>
                    <a:pt x="4801489" y="0"/>
                    <a:pt x="4893691" y="60968"/>
                    <a:pt x="4893691" y="136213"/>
                  </a:cubicBezTo>
                  <a:lnTo>
                    <a:pt x="4893691" y="681149"/>
                  </a:lnTo>
                  <a:cubicBezTo>
                    <a:pt x="4893691" y="756393"/>
                    <a:pt x="4801489" y="817361"/>
                    <a:pt x="4687697" y="817361"/>
                  </a:cubicBezTo>
                  <a:lnTo>
                    <a:pt x="205994" y="817361"/>
                  </a:lnTo>
                  <a:cubicBezTo>
                    <a:pt x="92202" y="817361"/>
                    <a:pt x="0" y="756393"/>
                    <a:pt x="0" y="681149"/>
                  </a:cubicBezTo>
                  <a:close/>
                </a:path>
              </a:pathLst>
            </a:custGeom>
            <a:solidFill>
              <a:srgbClr val="EBF4FC"/>
            </a:solidFill>
            <a:ln w="12700" cap="sq">
              <a:solidFill>
                <a:srgbClr val="8CAFD2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893729" cy="817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JOB SEEKER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TRUST LAYER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9584198"/>
            <a:ext cx="4281459" cy="6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8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950" y="1478756"/>
            <a:ext cx="16802100" cy="7981664"/>
            <a:chOff x="0" y="0"/>
            <a:chExt cx="22402800" cy="10642219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22402800" cy="10642219"/>
            </a:xfrm>
            <a:custGeom>
              <a:avLst/>
              <a:gdLst/>
              <a:ahLst/>
              <a:cxnLst/>
              <a:rect r="r" b="b" t="t" l="l"/>
              <a:pathLst>
                <a:path h="10642219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10642219"/>
                  </a:lnTo>
                  <a:lnTo>
                    <a:pt x="0" y="10642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369" r="0" b="-4536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495519" y="689896"/>
            <a:ext cx="976379" cy="49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8"/>
              </a:lnSpc>
            </a:pPr>
            <a:r>
              <a:rPr lang="en-US" sz="1800" b="true">
                <a:solidFill>
                  <a:srgbClr val="141E30"/>
                </a:solidFill>
                <a:latin typeface="Aptos Bold"/>
                <a:ea typeface="Aptos Bold"/>
                <a:cs typeface="Aptos Bold"/>
                <a:sym typeface="Aptos Bold"/>
              </a:rPr>
              <a:t>06 //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102" y="337471"/>
            <a:ext cx="8029127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499" b="true">
                <a:solidFill>
                  <a:srgbClr val="141414"/>
                </a:solidFill>
                <a:latin typeface="Aptos Bold"/>
                <a:ea typeface="Aptos Bold"/>
                <a:cs typeface="Aptos Bold"/>
                <a:sym typeface="Aptos Bold"/>
              </a:rPr>
              <a:t>RESEARCH, REFERENCES &amp; REVIEWER NOTES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2950" y="1271588"/>
            <a:ext cx="16802100" cy="28575"/>
            <a:chOff x="0" y="0"/>
            <a:chExt cx="224028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02800" cy="38100"/>
            </a:xfrm>
            <a:custGeom>
              <a:avLst/>
              <a:gdLst/>
              <a:ahLst/>
              <a:cxnLst/>
              <a:rect r="r" b="b" t="t" l="l"/>
              <a:pathLst>
                <a:path h="38100" w="22402800">
                  <a:moveTo>
                    <a:pt x="0" y="0"/>
                  </a:moveTo>
                  <a:lnTo>
                    <a:pt x="22402800" y="0"/>
                  </a:lnTo>
                  <a:lnTo>
                    <a:pt x="22402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6607" y="1228087"/>
            <a:ext cx="6733537" cy="579625"/>
            <a:chOff x="0" y="0"/>
            <a:chExt cx="8978049" cy="7728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78011" cy="772795"/>
            </a:xfrm>
            <a:custGeom>
              <a:avLst/>
              <a:gdLst/>
              <a:ahLst/>
              <a:cxnLst/>
              <a:rect r="r" b="b" t="t" l="l"/>
              <a:pathLst>
                <a:path h="772795" w="8978011">
                  <a:moveTo>
                    <a:pt x="0" y="128778"/>
                  </a:moveTo>
                  <a:cubicBezTo>
                    <a:pt x="0" y="57658"/>
                    <a:pt x="57658" y="0"/>
                    <a:pt x="128778" y="0"/>
                  </a:cubicBezTo>
                  <a:lnTo>
                    <a:pt x="8849233" y="0"/>
                  </a:lnTo>
                  <a:cubicBezTo>
                    <a:pt x="8920352" y="0"/>
                    <a:pt x="8978011" y="57658"/>
                    <a:pt x="8978011" y="128778"/>
                  </a:cubicBezTo>
                  <a:lnTo>
                    <a:pt x="8978011" y="644017"/>
                  </a:lnTo>
                  <a:cubicBezTo>
                    <a:pt x="8978011" y="715137"/>
                    <a:pt x="8920352" y="772795"/>
                    <a:pt x="8849233" y="772795"/>
                  </a:cubicBezTo>
                  <a:lnTo>
                    <a:pt x="128778" y="772795"/>
                  </a:lnTo>
                  <a:cubicBezTo>
                    <a:pt x="57658" y="772795"/>
                    <a:pt x="0" y="715137"/>
                    <a:pt x="0" y="644017"/>
                  </a:cubicBezTo>
                  <a:close/>
                </a:path>
              </a:pathLst>
            </a:custGeom>
            <a:solidFill>
              <a:srgbClr val="EBF2FA"/>
            </a:solidFill>
            <a:ln w="12700" cap="sq">
              <a:solidFill>
                <a:srgbClr val="96AFC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978049" cy="772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5D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BASIS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2327" y="1932175"/>
            <a:ext cx="6642097" cy="881377"/>
            <a:chOff x="0" y="0"/>
            <a:chExt cx="8856129" cy="11751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56090" cy="1175131"/>
            </a:xfrm>
            <a:custGeom>
              <a:avLst/>
              <a:gdLst/>
              <a:ahLst/>
              <a:cxnLst/>
              <a:rect r="r" b="b" t="t" l="l"/>
              <a:pathLst>
                <a:path h="1175131" w="885609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660257" y="0"/>
                  </a:lnTo>
                  <a:cubicBezTo>
                    <a:pt x="8768461" y="0"/>
                    <a:pt x="8856090" y="87630"/>
                    <a:pt x="8856090" y="195834"/>
                  </a:cubicBezTo>
                  <a:lnTo>
                    <a:pt x="8856090" y="979297"/>
                  </a:lnTo>
                  <a:cubicBezTo>
                    <a:pt x="8856090" y="1087501"/>
                    <a:pt x="8768461" y="1175131"/>
                    <a:pt x="866025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85612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1. National Cyber Crime Reporting Portal / I4C advisory (Apr 2025)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Fake CAPTCHA job scams: upfront fees, personal-data collection and withheld remuneration.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2327" y="2892295"/>
            <a:ext cx="6642097" cy="881377"/>
            <a:chOff x="0" y="0"/>
            <a:chExt cx="8856129" cy="11751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56090" cy="1175131"/>
            </a:xfrm>
            <a:custGeom>
              <a:avLst/>
              <a:gdLst/>
              <a:ahLst/>
              <a:cxnLst/>
              <a:rect r="r" b="b" t="t" l="l"/>
              <a:pathLst>
                <a:path h="1175131" w="885609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660257" y="0"/>
                  </a:lnTo>
                  <a:cubicBezTo>
                    <a:pt x="8768461" y="0"/>
                    <a:pt x="8856090" y="87630"/>
                    <a:pt x="8856090" y="195834"/>
                  </a:cubicBezTo>
                  <a:lnTo>
                    <a:pt x="8856090" y="979297"/>
                  </a:lnTo>
                  <a:cubicBezTo>
                    <a:pt x="8856090" y="1087501"/>
                    <a:pt x="8768461" y="1175131"/>
                    <a:pt x="866025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85612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2. EY India — Employment fraud study (29 May 2025)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Highlights rising employment fraud and the need for stronger verification.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2327" y="3852415"/>
            <a:ext cx="6642097" cy="881377"/>
            <a:chOff x="0" y="0"/>
            <a:chExt cx="8856129" cy="11751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56090" cy="1175131"/>
            </a:xfrm>
            <a:custGeom>
              <a:avLst/>
              <a:gdLst/>
              <a:ahLst/>
              <a:cxnLst/>
              <a:rect r="r" b="b" t="t" l="l"/>
              <a:pathLst>
                <a:path h="1175131" w="885609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660257" y="0"/>
                  </a:lnTo>
                  <a:cubicBezTo>
                    <a:pt x="8768461" y="0"/>
                    <a:pt x="8856090" y="87630"/>
                    <a:pt x="8856090" y="195834"/>
                  </a:cubicBezTo>
                  <a:lnTo>
                    <a:pt x="8856090" y="979297"/>
                  </a:lnTo>
                  <a:cubicBezTo>
                    <a:pt x="8856090" y="1087501"/>
                    <a:pt x="8768461" y="1175131"/>
                    <a:pt x="866025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85612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3. Omnikon National Hackathon 2026 — official rulebook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Idea submission requirements, evaluation focus and project constraints.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2327" y="4812535"/>
            <a:ext cx="6642097" cy="881377"/>
            <a:chOff x="0" y="0"/>
            <a:chExt cx="8856129" cy="11751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56090" cy="1175131"/>
            </a:xfrm>
            <a:custGeom>
              <a:avLst/>
              <a:gdLst/>
              <a:ahLst/>
              <a:cxnLst/>
              <a:rect r="r" b="b" t="t" l="l"/>
              <a:pathLst>
                <a:path h="1175131" w="8856090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660257" y="0"/>
                  </a:lnTo>
                  <a:cubicBezTo>
                    <a:pt x="8768461" y="0"/>
                    <a:pt x="8856090" y="87630"/>
                    <a:pt x="8856090" y="195834"/>
                  </a:cubicBezTo>
                  <a:lnTo>
                    <a:pt x="8856090" y="979297"/>
                  </a:lnTo>
                  <a:cubicBezTo>
                    <a:pt x="8856090" y="1087501"/>
                    <a:pt x="8768461" y="1175131"/>
                    <a:pt x="866025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85612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4. Omnikon official / Unstop event listing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Hackathon timeline, team size and submission stages.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11767" y="1228087"/>
            <a:ext cx="6413497" cy="579625"/>
            <a:chOff x="0" y="0"/>
            <a:chExt cx="8551329" cy="7728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51291" cy="772795"/>
            </a:xfrm>
            <a:custGeom>
              <a:avLst/>
              <a:gdLst/>
              <a:ahLst/>
              <a:cxnLst/>
              <a:rect r="r" b="b" t="t" l="l"/>
              <a:pathLst>
                <a:path h="772795" w="8551291">
                  <a:moveTo>
                    <a:pt x="0" y="128778"/>
                  </a:moveTo>
                  <a:cubicBezTo>
                    <a:pt x="0" y="57658"/>
                    <a:pt x="57658" y="0"/>
                    <a:pt x="128778" y="0"/>
                  </a:cubicBezTo>
                  <a:lnTo>
                    <a:pt x="8422513" y="0"/>
                  </a:lnTo>
                  <a:cubicBezTo>
                    <a:pt x="8493633" y="0"/>
                    <a:pt x="8551291" y="57658"/>
                    <a:pt x="8551291" y="128778"/>
                  </a:cubicBezTo>
                  <a:lnTo>
                    <a:pt x="8551291" y="644017"/>
                  </a:lnTo>
                  <a:cubicBezTo>
                    <a:pt x="8551291" y="715137"/>
                    <a:pt x="8493633" y="772795"/>
                    <a:pt x="8422513" y="772795"/>
                  </a:cubicBezTo>
                  <a:lnTo>
                    <a:pt x="128778" y="772795"/>
                  </a:lnTo>
                  <a:cubicBezTo>
                    <a:pt x="57658" y="772795"/>
                    <a:pt x="0" y="715137"/>
                    <a:pt x="0" y="644017"/>
                  </a:cubicBezTo>
                  <a:close/>
                </a:path>
              </a:pathLst>
            </a:custGeom>
            <a:solidFill>
              <a:srgbClr val="EFF9F6"/>
            </a:solidFill>
            <a:ln w="12700" cap="sq">
              <a:solidFill>
                <a:srgbClr val="87B9A5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551329" cy="772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387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REVIEWER NOTES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57487" y="1932175"/>
            <a:ext cx="6322057" cy="881377"/>
            <a:chOff x="0" y="0"/>
            <a:chExt cx="8429409" cy="11751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29371" cy="1175131"/>
            </a:xfrm>
            <a:custGeom>
              <a:avLst/>
              <a:gdLst/>
              <a:ahLst/>
              <a:cxnLst/>
              <a:rect r="r" b="b" t="t" l="l"/>
              <a:pathLst>
                <a:path h="1175131" w="8429371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233537" y="0"/>
                  </a:lnTo>
                  <a:cubicBezTo>
                    <a:pt x="8341741" y="0"/>
                    <a:pt x="8429371" y="87630"/>
                    <a:pt x="8429371" y="195834"/>
                  </a:cubicBezTo>
                  <a:lnTo>
                    <a:pt x="8429371" y="979297"/>
                  </a:lnTo>
                  <a:cubicBezTo>
                    <a:pt x="8429371" y="1087501"/>
                    <a:pt x="8341741" y="1175131"/>
                    <a:pt x="823353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42940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1. Novelty: multi-signal trust scoring + evidence-first explanations.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857487" y="2892295"/>
            <a:ext cx="6322057" cy="881377"/>
            <a:chOff x="0" y="0"/>
            <a:chExt cx="8429409" cy="11751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29371" cy="1175131"/>
            </a:xfrm>
            <a:custGeom>
              <a:avLst/>
              <a:gdLst/>
              <a:ahLst/>
              <a:cxnLst/>
              <a:rect r="r" b="b" t="t" l="l"/>
              <a:pathLst>
                <a:path h="1175131" w="8429371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233537" y="0"/>
                  </a:lnTo>
                  <a:cubicBezTo>
                    <a:pt x="8341741" y="0"/>
                    <a:pt x="8429371" y="87630"/>
                    <a:pt x="8429371" y="195834"/>
                  </a:cubicBezTo>
                  <a:lnTo>
                    <a:pt x="8429371" y="979297"/>
                  </a:lnTo>
                  <a:cubicBezTo>
                    <a:pt x="8429371" y="1087501"/>
                    <a:pt x="8341741" y="1175131"/>
                    <a:pt x="823353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42940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2. MVP is intentionally narrow: analyze a job post/link before adding deeper OSINT.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57487" y="3852415"/>
            <a:ext cx="6322057" cy="881377"/>
            <a:chOff x="0" y="0"/>
            <a:chExt cx="8429409" cy="117516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29371" cy="1175131"/>
            </a:xfrm>
            <a:custGeom>
              <a:avLst/>
              <a:gdLst/>
              <a:ahLst/>
              <a:cxnLst/>
              <a:rect r="r" b="b" t="t" l="l"/>
              <a:pathLst>
                <a:path h="1175131" w="8429371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233537" y="0"/>
                  </a:lnTo>
                  <a:cubicBezTo>
                    <a:pt x="8341741" y="0"/>
                    <a:pt x="8429371" y="87630"/>
                    <a:pt x="8429371" y="195834"/>
                  </a:cubicBezTo>
                  <a:lnTo>
                    <a:pt x="8429371" y="979297"/>
                  </a:lnTo>
                  <a:cubicBezTo>
                    <a:pt x="8429371" y="1087501"/>
                    <a:pt x="8341741" y="1175131"/>
                    <a:pt x="823353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42940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3. Safety: never claim a job is 'verified' solely from model confidence.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57487" y="4812535"/>
            <a:ext cx="6322057" cy="881377"/>
            <a:chOff x="0" y="0"/>
            <a:chExt cx="8429409" cy="11751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29371" cy="1175131"/>
            </a:xfrm>
            <a:custGeom>
              <a:avLst/>
              <a:gdLst/>
              <a:ahLst/>
              <a:cxnLst/>
              <a:rect r="r" b="b" t="t" l="l"/>
              <a:pathLst>
                <a:path h="1175131" w="8429371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8233537" y="0"/>
                  </a:lnTo>
                  <a:cubicBezTo>
                    <a:pt x="8341741" y="0"/>
                    <a:pt x="8429371" y="87630"/>
                    <a:pt x="8429371" y="195834"/>
                  </a:cubicBezTo>
                  <a:lnTo>
                    <a:pt x="8429371" y="979297"/>
                  </a:lnTo>
                  <a:cubicBezTo>
                    <a:pt x="8429371" y="1087501"/>
                    <a:pt x="8341741" y="1175131"/>
                    <a:pt x="8233537" y="1175131"/>
                  </a:cubicBezTo>
                  <a:lnTo>
                    <a:pt x="195834" y="1175131"/>
                  </a:lnTo>
                  <a:cubicBezTo>
                    <a:pt x="87630" y="1175131"/>
                    <a:pt x="0" y="1087501"/>
                    <a:pt x="0" y="9792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E6F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429409" cy="117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2D3542"/>
                  </a:solidFill>
                  <a:latin typeface="Aptos"/>
                  <a:ea typeface="Aptos"/>
                  <a:cs typeface="Aptos"/>
                  <a:sym typeface="Aptos"/>
                </a:rPr>
                <a:t>4. Next proof point: benchmark on labelled scam/legitimate samples and report precision, recall and false-positive rate.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857487" y="5891527"/>
            <a:ext cx="6322057" cy="698497"/>
            <a:chOff x="0" y="0"/>
            <a:chExt cx="8429409" cy="9313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29372" cy="931291"/>
            </a:xfrm>
            <a:custGeom>
              <a:avLst/>
              <a:gdLst/>
              <a:ahLst/>
              <a:cxnLst/>
              <a:rect r="r" b="b" t="t" l="l"/>
              <a:pathLst>
                <a:path h="931291" w="8429372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8274177" y="0"/>
                  </a:lnTo>
                  <a:cubicBezTo>
                    <a:pt x="8359902" y="0"/>
                    <a:pt x="8429372" y="69469"/>
                    <a:pt x="8429372" y="155194"/>
                  </a:cubicBezTo>
                  <a:lnTo>
                    <a:pt x="8429372" y="776097"/>
                  </a:lnTo>
                  <a:cubicBezTo>
                    <a:pt x="8429372" y="861822"/>
                    <a:pt x="8359902" y="931291"/>
                    <a:pt x="8274177" y="931291"/>
                  </a:cubicBezTo>
                  <a:lnTo>
                    <a:pt x="155194" y="931291"/>
                  </a:lnTo>
                  <a:cubicBezTo>
                    <a:pt x="69469" y="931291"/>
                    <a:pt x="0" y="861822"/>
                    <a:pt x="0" y="776097"/>
                  </a:cubicBezTo>
                  <a:close/>
                </a:path>
              </a:pathLst>
            </a:custGeom>
            <a:solidFill>
              <a:srgbClr val="FAEFF1"/>
            </a:solidFill>
            <a:ln w="12700" cap="sq">
              <a:solidFill>
                <a:srgbClr val="C8919B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8429409" cy="931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3394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Evidence-led AI, not fear-led AI.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14400" y="7341870"/>
            <a:ext cx="19654685" cy="14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"/>
              </a:lnSpc>
            </a:pPr>
            <a:r>
              <a:rPr lang="en-US" sz="849">
                <a:solidFill>
                  <a:srgbClr val="5A646E"/>
                </a:solidFill>
                <a:latin typeface="Calibri (MS)"/>
                <a:ea typeface="Calibri (MS)"/>
                <a:cs typeface="Calibri (MS)"/>
                <a:sym typeface="Calibri (MS)"/>
              </a:rPr>
              <a:t>[1] </a:t>
            </a:r>
            <a:r>
              <a:rPr lang="en-US" sz="849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www.cybercrime.gov.in/assets/learning-corner/advisory/pdf/Advisory%20on.pdf"/>
              </a:rPr>
              <a:t>https://www.cybercrime.gov.in/assets/learning-corner/advisory/pdf/Advisory%20on.pdf</a:t>
            </a:r>
            <a:r>
              <a:rPr lang="en-US" sz="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849">
                <a:solidFill>
                  <a:srgbClr val="5A646E"/>
                </a:solidFill>
                <a:latin typeface="Calibri (MS)"/>
                <a:ea typeface="Calibri (MS)"/>
                <a:cs typeface="Calibri (MS)"/>
                <a:sym typeface="Calibri (MS)"/>
              </a:rPr>
              <a:t>[2] </a:t>
            </a:r>
            <a:r>
              <a:rPr lang="en-US" sz="849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www.ey.com/en_in/newsroom/2025/05/employment-fraud-on-the-rise-ey-study-calls-for-tech-enabled-vigilance-in-hiring-amidst-rising-risks-across-sectors"/>
              </a:rPr>
              <a:t>https://www.ey.com/en_in/newsroom/2025/05/employment-fraud-on-the-rise-ey-study-calls-for-tech-enabled-vigilance-in-hiring-amidst-rising-risks-across-sectors</a:t>
            </a:r>
            <a:r>
              <a:rPr lang="en-US" sz="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849">
                <a:solidFill>
                  <a:srgbClr val="5A646E"/>
                </a:solidFill>
                <a:latin typeface="Calibri (MS)"/>
                <a:ea typeface="Calibri (MS)"/>
                <a:cs typeface="Calibri (MS)"/>
                <a:sym typeface="Calibri (MS)"/>
              </a:rPr>
              <a:t>[3] </a:t>
            </a:r>
            <a:r>
              <a:rPr lang="en-US" sz="849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omnikonhackathon.vercel.app/rulebook"/>
              </a:rPr>
              <a:t>https://omnikonhackathon.vercel.app/rulebook</a:t>
            </a:r>
            <a:r>
              <a:rPr lang="en-US" sz="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849">
                <a:solidFill>
                  <a:srgbClr val="5A646E"/>
                </a:solidFill>
                <a:latin typeface="Calibri (MS)"/>
                <a:ea typeface="Calibri (MS)"/>
                <a:cs typeface="Calibri (MS)"/>
                <a:sym typeface="Calibri (MS)"/>
              </a:rPr>
              <a:t>[4] </a:t>
            </a:r>
            <a:r>
              <a:rPr lang="en-US" sz="849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api.unstop.com/hackathons/omnikon-national-hackathon-2026-omnikon-1715716"/>
              </a:rPr>
              <a:t>https://api.unstop.com/hackathons/omnikon-national-hackathon-2026-omnikon-1715716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DAHS2KCqL2g</dc:identifier>
  <dcterms:modified xsi:type="dcterms:W3CDTF">2011-08-01T06:04:30Z</dcterms:modified>
  <cp:revision>1</cp:revision>
  <dc:title>Omnikon_2026_JobShield_AI_itsmouni0212_FINAL-fd7f200b-66078f59.pptx</dc:title>
</cp:coreProperties>
</file>